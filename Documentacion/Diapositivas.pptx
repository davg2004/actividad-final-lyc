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grandir Bold Italics" charset="1" panose="00000800000000000000"/>
      <p:regular r:id="rId22"/>
    </p:embeddedFont>
    <p:embeddedFont>
      <p:font typeface="Shrikhand" charset="1" panose="02000000000000000000"/>
      <p:regular r:id="rId23"/>
    </p:embeddedFont>
    <p:embeddedFont>
      <p:font typeface="Agrandir" charset="1" panose="00000500000000000000"/>
      <p:regular r:id="rId24"/>
    </p:embeddedFont>
    <p:embeddedFont>
      <p:font typeface="Agrandir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jpe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3226129" y="2314575"/>
            <a:ext cx="5657850" cy="56578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33450" cap="sq">
              <a:gradFill>
                <a:gsLst>
                  <a:gs pos="0">
                    <a:srgbClr val="036E99">
                      <a:alpha val="63000"/>
                    </a:srgbClr>
                  </a:gs>
                  <a:gs pos="100000">
                    <a:srgbClr val="0078A8">
                      <a:alpha val="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883979" y="2314575"/>
            <a:ext cx="5657850" cy="565785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33450" cap="sq">
              <a:gradFill>
                <a:gsLst>
                  <a:gs pos="0">
                    <a:srgbClr val="0078A8">
                      <a:alpha val="0"/>
                    </a:srgbClr>
                  </a:gs>
                  <a:gs pos="100000">
                    <a:srgbClr val="036E99">
                      <a:alpha val="63000"/>
                    </a:srgbClr>
                  </a:gs>
                </a:gsLst>
                <a:lin ang="0"/>
              </a:gra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150396" y="2636379"/>
            <a:ext cx="15987207" cy="4452267"/>
          </a:xfrm>
          <a:prstGeom prst="rect">
            <a:avLst/>
          </a:prstGeom>
        </p:spPr>
        <p:txBody>
          <a:bodyPr anchor="t" rtlCol="false" tIns="0" lIns="0" bIns="0" rIns="0">
            <a:spAutoFit/>
          </a:bodyPr>
          <a:lstStyle/>
          <a:p>
            <a:pPr algn="ctr">
              <a:lnSpc>
                <a:spcPts val="16574"/>
              </a:lnSpc>
              <a:spcBef>
                <a:spcPct val="0"/>
              </a:spcBef>
            </a:pPr>
            <a:r>
              <a:rPr lang="en-US" b="true" sz="11838" i="true">
                <a:solidFill>
                  <a:srgbClr val="FFFFFF"/>
                </a:solidFill>
                <a:latin typeface="Agrandir Bold Italics"/>
                <a:ea typeface="Agrandir Bold Italics"/>
                <a:cs typeface="Agrandir Bold Italics"/>
                <a:sym typeface="Agrandir Bold Italics"/>
              </a:rPr>
              <a:t>Lenguajes y Gramaticas Formales</a:t>
            </a:r>
          </a:p>
        </p:txBody>
      </p:sp>
      <p:sp>
        <p:nvSpPr>
          <p:cNvPr name="Freeform 10" id="10"/>
          <p:cNvSpPr/>
          <p:nvPr/>
        </p:nvSpPr>
        <p:spPr>
          <a:xfrm flipH="false" flipV="false" rot="0">
            <a:off x="0" y="7525816"/>
            <a:ext cx="4242042" cy="2761184"/>
          </a:xfrm>
          <a:custGeom>
            <a:avLst/>
            <a:gdLst/>
            <a:ahLst/>
            <a:cxnLst/>
            <a:rect r="r" b="b" t="t" l="l"/>
            <a:pathLst>
              <a:path h="2761184" w="4242042">
                <a:moveTo>
                  <a:pt x="0" y="0"/>
                </a:moveTo>
                <a:lnTo>
                  <a:pt x="4242042" y="0"/>
                </a:lnTo>
                <a:lnTo>
                  <a:pt x="4242042" y="2761184"/>
                </a:lnTo>
                <a:lnTo>
                  <a:pt x="0" y="27611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4198767" y="-1565416"/>
            <a:ext cx="5657850" cy="56578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33450" cap="sq">
              <a:gradFill>
                <a:gsLst>
                  <a:gs pos="0">
                    <a:srgbClr val="0078A8">
                      <a:alpha val="0"/>
                    </a:srgbClr>
                  </a:gs>
                  <a:gs pos="100000">
                    <a:srgbClr val="036E99">
                      <a:alpha val="630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388987" y="1725819"/>
            <a:ext cx="2765601" cy="4114800"/>
          </a:xfrm>
          <a:custGeom>
            <a:avLst/>
            <a:gdLst/>
            <a:ahLst/>
            <a:cxnLst/>
            <a:rect r="r" b="b" t="t" l="l"/>
            <a:pathLst>
              <a:path h="4114800" w="2765601">
                <a:moveTo>
                  <a:pt x="0" y="0"/>
                </a:moveTo>
                <a:lnTo>
                  <a:pt x="2765600" y="0"/>
                </a:lnTo>
                <a:lnTo>
                  <a:pt x="27656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030072" y="5840619"/>
            <a:ext cx="3896349" cy="4114800"/>
          </a:xfrm>
          <a:custGeom>
            <a:avLst/>
            <a:gdLst/>
            <a:ahLst/>
            <a:cxnLst/>
            <a:rect r="r" b="b" t="t" l="l"/>
            <a:pathLst>
              <a:path h="4114800" w="3896349">
                <a:moveTo>
                  <a:pt x="0" y="0"/>
                </a:moveTo>
                <a:lnTo>
                  <a:pt x="3896349" y="0"/>
                </a:lnTo>
                <a:lnTo>
                  <a:pt x="389634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255987" y="2703561"/>
            <a:ext cx="12722259" cy="2644395"/>
          </a:xfrm>
          <a:prstGeom prst="rect">
            <a:avLst/>
          </a:prstGeom>
        </p:spPr>
        <p:txBody>
          <a:bodyPr anchor="t" rtlCol="false" tIns="0" lIns="0" bIns="0" rIns="0">
            <a:spAutoFit/>
          </a:bodyPr>
          <a:lstStyle/>
          <a:p>
            <a:pPr algn="ctr">
              <a:lnSpc>
                <a:spcPts val="10695"/>
              </a:lnSpc>
              <a:spcBef>
                <a:spcPct val="0"/>
              </a:spcBef>
            </a:pPr>
            <a:r>
              <a:rPr lang="en-US" sz="7639">
                <a:solidFill>
                  <a:srgbClr val="FFFFFF"/>
                </a:solidFill>
                <a:latin typeface="Shrikhand"/>
                <a:ea typeface="Shrikhand"/>
                <a:cs typeface="Shrikhand"/>
                <a:sym typeface="Shrikhand"/>
              </a:rPr>
              <a:t>Fundamentos y Jerarquía de Chomsky</a:t>
            </a:r>
          </a:p>
        </p:txBody>
      </p:sp>
      <p:sp>
        <p:nvSpPr>
          <p:cNvPr name="TextBox 9" id="9"/>
          <p:cNvSpPr txBox="true"/>
          <p:nvPr/>
        </p:nvSpPr>
        <p:spPr>
          <a:xfrm rot="0">
            <a:off x="2996288" y="5726319"/>
            <a:ext cx="10033783" cy="1656020"/>
          </a:xfrm>
          <a:prstGeom prst="rect">
            <a:avLst/>
          </a:prstGeom>
        </p:spPr>
        <p:txBody>
          <a:bodyPr anchor="t" rtlCol="false" tIns="0" lIns="0" bIns="0" rIns="0">
            <a:spAutoFit/>
          </a:bodyPr>
          <a:lstStyle/>
          <a:p>
            <a:pPr algn="just">
              <a:lnSpc>
                <a:spcPts val="3223"/>
              </a:lnSpc>
              <a:spcBef>
                <a:spcPct val="0"/>
              </a:spcBef>
            </a:pPr>
            <a:r>
              <a:rPr lang="en-US" sz="2302">
                <a:solidFill>
                  <a:srgbClr val="FFFFFF"/>
                </a:solidFill>
                <a:latin typeface="Agrandir"/>
                <a:ea typeface="Agrandir"/>
                <a:cs typeface="Agrandir"/>
                <a:sym typeface="Agrandir"/>
              </a:rPr>
              <a:t>Análisis de la Jerarquía de Chomsky. Exploramos cómo las reglas gramaticales definen la capacidad de reconocimiento de un lenguaje, proporcionando las bases necesarias para entender la relación entre gramáticas formales y los autómatas que las procesan.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397315" y="1575773"/>
            <a:ext cx="6819900" cy="68199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47675" cap="sq">
              <a:gradFill>
                <a:gsLst>
                  <a:gs pos="0">
                    <a:srgbClr val="036E99">
                      <a:alpha val="63000"/>
                    </a:srgbClr>
                  </a:gs>
                  <a:gs pos="100000">
                    <a:srgbClr val="FFFFFF">
                      <a:alpha val="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a:grpSpLocks noChangeAspect="true"/>
          </p:cNvGrpSpPr>
          <p:nvPr/>
        </p:nvGrpSpPr>
        <p:grpSpPr>
          <a:xfrm rot="0">
            <a:off x="-182295" y="2678928"/>
            <a:ext cx="4389860" cy="4389860"/>
            <a:chOff x="0" y="0"/>
            <a:chExt cx="14840029" cy="14840029"/>
          </a:xfrm>
        </p:grpSpPr>
        <p:sp>
          <p:nvSpPr>
            <p:cNvPr name="Freeform 7" id="7"/>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036E99">
                    <a:alpha val="100000"/>
                  </a:srgbClr>
                </a:gs>
                <a:gs pos="100000">
                  <a:srgbClr val="0078A8">
                    <a:alpha val="0"/>
                  </a:srgbClr>
                </a:gs>
              </a:gsLst>
              <a:lin ang="0"/>
            </a:gradFill>
          </p:spPr>
        </p:sp>
        <p:sp>
          <p:nvSpPr>
            <p:cNvPr name="Freeform 8" id="8"/>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9" id="9"/>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23" t="0" r="223" b="0"/>
              </a:stretch>
            </a:blipFill>
          </p:spPr>
        </p:sp>
      </p:grpSp>
      <p:sp>
        <p:nvSpPr>
          <p:cNvPr name="Freeform 10" id="10"/>
          <p:cNvSpPr/>
          <p:nvPr/>
        </p:nvSpPr>
        <p:spPr>
          <a:xfrm flipH="false" flipV="false" rot="0">
            <a:off x="15529168" y="-87996"/>
            <a:ext cx="2758832" cy="3327538"/>
          </a:xfrm>
          <a:custGeom>
            <a:avLst/>
            <a:gdLst/>
            <a:ahLst/>
            <a:cxnLst/>
            <a:rect r="r" b="b" t="t" l="l"/>
            <a:pathLst>
              <a:path h="3327538" w="2758832">
                <a:moveTo>
                  <a:pt x="0" y="0"/>
                </a:moveTo>
                <a:lnTo>
                  <a:pt x="2758832" y="0"/>
                </a:lnTo>
                <a:lnTo>
                  <a:pt x="2758832" y="3327538"/>
                </a:lnTo>
                <a:lnTo>
                  <a:pt x="0" y="33275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6371992" y="4517649"/>
            <a:ext cx="8910887" cy="3656270"/>
          </a:xfrm>
          <a:prstGeom prst="rect">
            <a:avLst/>
          </a:prstGeom>
        </p:spPr>
        <p:txBody>
          <a:bodyPr anchor="t" rtlCol="false" tIns="0" lIns="0" bIns="0" rIns="0">
            <a:spAutoFit/>
          </a:bodyPr>
          <a:lstStyle/>
          <a:p>
            <a:pPr algn="just">
              <a:lnSpc>
                <a:spcPts val="3223"/>
              </a:lnSpc>
              <a:spcBef>
                <a:spcPct val="0"/>
              </a:spcBef>
            </a:pPr>
            <a:r>
              <a:rPr lang="en-US" sz="2302">
                <a:solidFill>
                  <a:srgbClr val="FFFFFF"/>
                </a:solidFill>
                <a:latin typeface="Agrandir"/>
                <a:ea typeface="Agrandir"/>
                <a:cs typeface="Agrandir"/>
                <a:sym typeface="Agrandir"/>
              </a:rPr>
              <a:t>Una gramática formal es un conjunto de reglas matemáticas que define cómo estructurar y generar cadenas de caracteres válidas para un lenguaje determinado. El mecanismo mediante el cual una gramática genera un lenguaje consiste en partir del símbolo inicial y aplicar sucesivamente las reglas de producción hasta obtener una cadena compuesta únicamente por símbolos terminales. El conjunto de todas las cadenas que pueden derivarse de esta manera constituye el lenguaje generado por la gramática.</a:t>
            </a:r>
          </a:p>
        </p:txBody>
      </p:sp>
      <p:grpSp>
        <p:nvGrpSpPr>
          <p:cNvPr name="Group 12" id="12"/>
          <p:cNvGrpSpPr/>
          <p:nvPr/>
        </p:nvGrpSpPr>
        <p:grpSpPr>
          <a:xfrm rot="0">
            <a:off x="5814983" y="4357692"/>
            <a:ext cx="10298618" cy="3930820"/>
            <a:chOff x="0" y="0"/>
            <a:chExt cx="2712393" cy="1035278"/>
          </a:xfrm>
        </p:grpSpPr>
        <p:sp>
          <p:nvSpPr>
            <p:cNvPr name="Freeform 13" id="13"/>
            <p:cNvSpPr/>
            <p:nvPr/>
          </p:nvSpPr>
          <p:spPr>
            <a:xfrm flipH="false" flipV="false" rot="0">
              <a:off x="0" y="0"/>
              <a:ext cx="2712393" cy="1035278"/>
            </a:xfrm>
            <a:custGeom>
              <a:avLst/>
              <a:gdLst/>
              <a:ahLst/>
              <a:cxnLst/>
              <a:rect r="r" b="b" t="t" l="l"/>
              <a:pathLst>
                <a:path h="1035278" w="2712393">
                  <a:moveTo>
                    <a:pt x="36084" y="0"/>
                  </a:moveTo>
                  <a:lnTo>
                    <a:pt x="2676310" y="0"/>
                  </a:lnTo>
                  <a:cubicBezTo>
                    <a:pt x="2685879" y="0"/>
                    <a:pt x="2695057" y="3802"/>
                    <a:pt x="2701824" y="10569"/>
                  </a:cubicBezTo>
                  <a:cubicBezTo>
                    <a:pt x="2708591" y="17336"/>
                    <a:pt x="2712393" y="26514"/>
                    <a:pt x="2712393" y="36084"/>
                  </a:cubicBezTo>
                  <a:lnTo>
                    <a:pt x="2712393" y="999194"/>
                  </a:lnTo>
                  <a:cubicBezTo>
                    <a:pt x="2712393" y="1019122"/>
                    <a:pt x="2696238" y="1035278"/>
                    <a:pt x="2676310" y="1035278"/>
                  </a:cubicBezTo>
                  <a:lnTo>
                    <a:pt x="36084" y="1035278"/>
                  </a:lnTo>
                  <a:cubicBezTo>
                    <a:pt x="16155" y="1035278"/>
                    <a:pt x="0" y="1019122"/>
                    <a:pt x="0" y="999194"/>
                  </a:cubicBezTo>
                  <a:lnTo>
                    <a:pt x="0" y="36084"/>
                  </a:lnTo>
                  <a:cubicBezTo>
                    <a:pt x="0" y="16155"/>
                    <a:pt x="16155" y="0"/>
                    <a:pt x="36084"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14" id="14"/>
            <p:cNvSpPr txBox="true"/>
            <p:nvPr/>
          </p:nvSpPr>
          <p:spPr>
            <a:xfrm>
              <a:off x="0" y="-85725"/>
              <a:ext cx="2712393" cy="1121003"/>
            </a:xfrm>
            <a:prstGeom prst="rect">
              <a:avLst/>
            </a:prstGeom>
          </p:spPr>
          <p:txBody>
            <a:bodyPr anchor="ctr" rtlCol="false" tIns="50800" lIns="50800" bIns="50800" rIns="50800"/>
            <a:lstStyle/>
            <a:p>
              <a:pPr algn="ctr">
                <a:lnSpc>
                  <a:spcPts val="2663"/>
                </a:lnSpc>
              </a:pPr>
            </a:p>
          </p:txBody>
        </p:sp>
      </p:grpSp>
      <p:sp>
        <p:nvSpPr>
          <p:cNvPr name="TextBox 15" id="15"/>
          <p:cNvSpPr txBox="true"/>
          <p:nvPr/>
        </p:nvSpPr>
        <p:spPr>
          <a:xfrm rot="0">
            <a:off x="4596039" y="2963018"/>
            <a:ext cx="11749889" cy="953134"/>
          </a:xfrm>
          <a:prstGeom prst="rect">
            <a:avLst/>
          </a:prstGeom>
        </p:spPr>
        <p:txBody>
          <a:bodyPr anchor="t" rtlCol="false" tIns="0" lIns="0" bIns="0" rIns="0">
            <a:spAutoFit/>
          </a:bodyPr>
          <a:lstStyle/>
          <a:p>
            <a:pPr algn="just">
              <a:lnSpc>
                <a:spcPts val="7840"/>
              </a:lnSpc>
              <a:spcBef>
                <a:spcPct val="0"/>
              </a:spcBef>
            </a:pPr>
            <a:r>
              <a:rPr lang="en-US" sz="5600">
                <a:solidFill>
                  <a:srgbClr val="FFFFFF"/>
                </a:solidFill>
                <a:latin typeface="Shrikhand"/>
                <a:ea typeface="Shrikhand"/>
                <a:cs typeface="Shrikhand"/>
                <a:sym typeface="Shrikhand"/>
              </a:rPr>
              <a:t>Relación Gramática-Lenguaje: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028700" y="4820137"/>
            <a:ext cx="3994418" cy="3488305"/>
            <a:chOff x="0" y="0"/>
            <a:chExt cx="1052028" cy="918730"/>
          </a:xfrm>
        </p:grpSpPr>
        <p:sp>
          <p:nvSpPr>
            <p:cNvPr name="Freeform 4" id="4"/>
            <p:cNvSpPr/>
            <p:nvPr/>
          </p:nvSpPr>
          <p:spPr>
            <a:xfrm flipH="false" flipV="false" rot="0">
              <a:off x="0" y="0"/>
              <a:ext cx="1052028" cy="918730"/>
            </a:xfrm>
            <a:custGeom>
              <a:avLst/>
              <a:gdLst/>
              <a:ahLst/>
              <a:cxnLst/>
              <a:rect r="r" b="b" t="t" l="l"/>
              <a:pathLst>
                <a:path h="918730" w="1052028">
                  <a:moveTo>
                    <a:pt x="93033" y="0"/>
                  </a:moveTo>
                  <a:lnTo>
                    <a:pt x="958995" y="0"/>
                  </a:lnTo>
                  <a:cubicBezTo>
                    <a:pt x="983669" y="0"/>
                    <a:pt x="1007332" y="9802"/>
                    <a:pt x="1024779" y="27249"/>
                  </a:cubicBezTo>
                  <a:cubicBezTo>
                    <a:pt x="1042226" y="44696"/>
                    <a:pt x="1052028" y="68359"/>
                    <a:pt x="1052028" y="93033"/>
                  </a:cubicBezTo>
                  <a:lnTo>
                    <a:pt x="1052028" y="825698"/>
                  </a:lnTo>
                  <a:cubicBezTo>
                    <a:pt x="1052028" y="850371"/>
                    <a:pt x="1042226" y="874035"/>
                    <a:pt x="1024779" y="891482"/>
                  </a:cubicBezTo>
                  <a:cubicBezTo>
                    <a:pt x="1007332" y="908929"/>
                    <a:pt x="983669" y="918730"/>
                    <a:pt x="958995" y="918730"/>
                  </a:cubicBezTo>
                  <a:lnTo>
                    <a:pt x="93033" y="918730"/>
                  </a:lnTo>
                  <a:cubicBezTo>
                    <a:pt x="68359" y="918730"/>
                    <a:pt x="44696" y="908929"/>
                    <a:pt x="27249" y="891482"/>
                  </a:cubicBezTo>
                  <a:cubicBezTo>
                    <a:pt x="9802" y="874035"/>
                    <a:pt x="0" y="850371"/>
                    <a:pt x="0" y="825698"/>
                  </a:cubicBezTo>
                  <a:lnTo>
                    <a:pt x="0" y="93033"/>
                  </a:lnTo>
                  <a:cubicBezTo>
                    <a:pt x="0" y="68359"/>
                    <a:pt x="9802" y="44696"/>
                    <a:pt x="27249" y="27249"/>
                  </a:cubicBezTo>
                  <a:cubicBezTo>
                    <a:pt x="44696" y="9802"/>
                    <a:pt x="68359" y="0"/>
                    <a:pt x="93033"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5" id="5"/>
            <p:cNvSpPr txBox="true"/>
            <p:nvPr/>
          </p:nvSpPr>
          <p:spPr>
            <a:xfrm>
              <a:off x="0" y="-85725"/>
              <a:ext cx="1052028" cy="1004455"/>
            </a:xfrm>
            <a:prstGeom prst="rect">
              <a:avLst/>
            </a:prstGeom>
          </p:spPr>
          <p:txBody>
            <a:bodyPr anchor="ctr" rtlCol="false" tIns="50800" lIns="50800" bIns="50800" rIns="50800"/>
            <a:lstStyle/>
            <a:p>
              <a:pPr algn="ctr">
                <a:lnSpc>
                  <a:spcPts val="2663"/>
                </a:lnSpc>
              </a:pPr>
            </a:p>
          </p:txBody>
        </p:sp>
      </p:grpSp>
      <p:sp>
        <p:nvSpPr>
          <p:cNvPr name="TextBox 6" id="6"/>
          <p:cNvSpPr txBox="true"/>
          <p:nvPr/>
        </p:nvSpPr>
        <p:spPr>
          <a:xfrm rot="0">
            <a:off x="1260931" y="4848860"/>
            <a:ext cx="3408032" cy="481965"/>
          </a:xfrm>
          <a:prstGeom prst="rect">
            <a:avLst/>
          </a:prstGeom>
        </p:spPr>
        <p:txBody>
          <a:bodyPr anchor="t" rtlCol="false" tIns="0" lIns="0" bIns="0" rIns="0">
            <a:spAutoFit/>
          </a:bodyPr>
          <a:lstStyle/>
          <a:p>
            <a:pPr algn="ctr">
              <a:lnSpc>
                <a:spcPts val="3359"/>
              </a:lnSpc>
              <a:spcBef>
                <a:spcPct val="0"/>
              </a:spcBef>
            </a:pPr>
            <a:r>
              <a:rPr lang="en-US" b="true" sz="2399">
                <a:solidFill>
                  <a:srgbClr val="FFFFFF"/>
                </a:solidFill>
                <a:latin typeface="Agrandir Bold"/>
                <a:ea typeface="Agrandir Bold"/>
                <a:cs typeface="Agrandir Bold"/>
                <a:sym typeface="Agrandir Bold"/>
              </a:rPr>
              <a:t>Nivel 0</a:t>
            </a:r>
          </a:p>
        </p:txBody>
      </p:sp>
      <p:sp>
        <p:nvSpPr>
          <p:cNvPr name="TextBox 7" id="7"/>
          <p:cNvSpPr txBox="true"/>
          <p:nvPr/>
        </p:nvSpPr>
        <p:spPr>
          <a:xfrm rot="0">
            <a:off x="1260931" y="5322942"/>
            <a:ext cx="3285125" cy="2871714"/>
          </a:xfrm>
          <a:prstGeom prst="rect">
            <a:avLst/>
          </a:prstGeom>
        </p:spPr>
        <p:txBody>
          <a:bodyPr anchor="t" rtlCol="false" tIns="0" lIns="0" bIns="0" rIns="0">
            <a:spAutoFit/>
          </a:bodyPr>
          <a:lstStyle/>
          <a:p>
            <a:pPr algn="just">
              <a:lnSpc>
                <a:spcPts val="2848"/>
              </a:lnSpc>
              <a:spcBef>
                <a:spcPct val="0"/>
              </a:spcBef>
            </a:pPr>
            <a:r>
              <a:rPr lang="en-US" sz="2034">
                <a:solidFill>
                  <a:srgbClr val="FFFFFF"/>
                </a:solidFill>
                <a:latin typeface="Agrandir"/>
                <a:ea typeface="Agrandir"/>
                <a:cs typeface="Agrandir"/>
                <a:sym typeface="Agrandir"/>
              </a:rPr>
              <a:t>El Tipo 0, conocido como gramáticas sin restricciones, es el nivel más general. Sus reglas de producción no tienen limitaciones y pueden describir cualquier lenguaje computable.</a:t>
            </a:r>
          </a:p>
        </p:txBody>
      </p:sp>
      <p:grpSp>
        <p:nvGrpSpPr>
          <p:cNvPr name="Group 8" id="8"/>
          <p:cNvGrpSpPr/>
          <p:nvPr/>
        </p:nvGrpSpPr>
        <p:grpSpPr>
          <a:xfrm rot="0">
            <a:off x="5422757" y="4820137"/>
            <a:ext cx="4057439" cy="3400117"/>
            <a:chOff x="0" y="0"/>
            <a:chExt cx="1068626" cy="895504"/>
          </a:xfrm>
        </p:grpSpPr>
        <p:sp>
          <p:nvSpPr>
            <p:cNvPr name="Freeform 9" id="9"/>
            <p:cNvSpPr/>
            <p:nvPr/>
          </p:nvSpPr>
          <p:spPr>
            <a:xfrm flipH="false" flipV="false" rot="0">
              <a:off x="0" y="0"/>
              <a:ext cx="1068626" cy="895504"/>
            </a:xfrm>
            <a:custGeom>
              <a:avLst/>
              <a:gdLst/>
              <a:ahLst/>
              <a:cxnLst/>
              <a:rect r="r" b="b" t="t" l="l"/>
              <a:pathLst>
                <a:path h="895504" w="1068626">
                  <a:moveTo>
                    <a:pt x="91588" y="0"/>
                  </a:moveTo>
                  <a:lnTo>
                    <a:pt x="977038" y="0"/>
                  </a:lnTo>
                  <a:cubicBezTo>
                    <a:pt x="1001329" y="0"/>
                    <a:pt x="1024624" y="9649"/>
                    <a:pt x="1041800" y="26825"/>
                  </a:cubicBezTo>
                  <a:cubicBezTo>
                    <a:pt x="1058976" y="44002"/>
                    <a:pt x="1068626" y="67297"/>
                    <a:pt x="1068626" y="91588"/>
                  </a:cubicBezTo>
                  <a:lnTo>
                    <a:pt x="1068626" y="803916"/>
                  </a:lnTo>
                  <a:cubicBezTo>
                    <a:pt x="1068626" y="828207"/>
                    <a:pt x="1058976" y="851502"/>
                    <a:pt x="1041800" y="868678"/>
                  </a:cubicBezTo>
                  <a:cubicBezTo>
                    <a:pt x="1024624" y="885855"/>
                    <a:pt x="1001329" y="895504"/>
                    <a:pt x="977038" y="895504"/>
                  </a:cubicBezTo>
                  <a:lnTo>
                    <a:pt x="91588" y="895504"/>
                  </a:lnTo>
                  <a:cubicBezTo>
                    <a:pt x="67297" y="895504"/>
                    <a:pt x="44002" y="885855"/>
                    <a:pt x="26825" y="868678"/>
                  </a:cubicBezTo>
                  <a:cubicBezTo>
                    <a:pt x="9649" y="851502"/>
                    <a:pt x="0" y="828207"/>
                    <a:pt x="0" y="803916"/>
                  </a:cubicBezTo>
                  <a:lnTo>
                    <a:pt x="0" y="91588"/>
                  </a:lnTo>
                  <a:cubicBezTo>
                    <a:pt x="0" y="67297"/>
                    <a:pt x="9649" y="44002"/>
                    <a:pt x="26825" y="26825"/>
                  </a:cubicBezTo>
                  <a:cubicBezTo>
                    <a:pt x="44002" y="9649"/>
                    <a:pt x="67297" y="0"/>
                    <a:pt x="91588"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10" id="10"/>
            <p:cNvSpPr txBox="true"/>
            <p:nvPr/>
          </p:nvSpPr>
          <p:spPr>
            <a:xfrm>
              <a:off x="0" y="-85725"/>
              <a:ext cx="1068626" cy="981229"/>
            </a:xfrm>
            <a:prstGeom prst="rect">
              <a:avLst/>
            </a:prstGeom>
          </p:spPr>
          <p:txBody>
            <a:bodyPr anchor="ctr" rtlCol="false" tIns="50800" lIns="50800" bIns="50800" rIns="50800"/>
            <a:lstStyle/>
            <a:p>
              <a:pPr algn="ctr">
                <a:lnSpc>
                  <a:spcPts val="2663"/>
                </a:lnSpc>
              </a:pPr>
            </a:p>
          </p:txBody>
        </p:sp>
      </p:grpSp>
      <p:sp>
        <p:nvSpPr>
          <p:cNvPr name="TextBox 11" id="11"/>
          <p:cNvSpPr txBox="true"/>
          <p:nvPr/>
        </p:nvSpPr>
        <p:spPr>
          <a:xfrm rot="0">
            <a:off x="5708373" y="4884907"/>
            <a:ext cx="3408032" cy="455930"/>
          </a:xfrm>
          <a:prstGeom prst="rect">
            <a:avLst/>
          </a:prstGeom>
        </p:spPr>
        <p:txBody>
          <a:bodyPr anchor="t" rtlCol="false" tIns="0" lIns="0" bIns="0" rIns="0">
            <a:spAutoFit/>
          </a:bodyPr>
          <a:lstStyle/>
          <a:p>
            <a:pPr algn="ctr">
              <a:lnSpc>
                <a:spcPts val="3219"/>
              </a:lnSpc>
              <a:spcBef>
                <a:spcPct val="0"/>
              </a:spcBef>
            </a:pPr>
            <a:r>
              <a:rPr lang="en-US" b="true" sz="2299">
                <a:solidFill>
                  <a:srgbClr val="FFFFFF"/>
                </a:solidFill>
                <a:latin typeface="Agrandir Bold"/>
                <a:ea typeface="Agrandir Bold"/>
                <a:cs typeface="Agrandir Bold"/>
                <a:sym typeface="Agrandir Bold"/>
              </a:rPr>
              <a:t>Nivel 1</a:t>
            </a:r>
          </a:p>
        </p:txBody>
      </p:sp>
      <p:sp>
        <p:nvSpPr>
          <p:cNvPr name="TextBox 12" id="12"/>
          <p:cNvSpPr txBox="true"/>
          <p:nvPr/>
        </p:nvSpPr>
        <p:spPr>
          <a:xfrm rot="0">
            <a:off x="5737755" y="5401587"/>
            <a:ext cx="3532573" cy="2270199"/>
          </a:xfrm>
          <a:prstGeom prst="rect">
            <a:avLst/>
          </a:prstGeom>
        </p:spPr>
        <p:txBody>
          <a:bodyPr anchor="t" rtlCol="false" tIns="0" lIns="0" bIns="0" rIns="0">
            <a:spAutoFit/>
          </a:bodyPr>
          <a:lstStyle/>
          <a:p>
            <a:pPr algn="l">
              <a:lnSpc>
                <a:spcPts val="3555"/>
              </a:lnSpc>
              <a:spcBef>
                <a:spcPct val="0"/>
              </a:spcBef>
            </a:pPr>
            <a:r>
              <a:rPr lang="en-US" sz="2539">
                <a:solidFill>
                  <a:srgbClr val="FFFFFF"/>
                </a:solidFill>
                <a:latin typeface="Agrandir"/>
                <a:ea typeface="Agrandir"/>
                <a:cs typeface="Agrandir"/>
                <a:sym typeface="Agrandir"/>
              </a:rPr>
              <a:t>Impone la restricción de que las reglas de sustitución dependen de los símbolos que rodean a la variable. </a:t>
            </a:r>
          </a:p>
        </p:txBody>
      </p:sp>
      <p:grpSp>
        <p:nvGrpSpPr>
          <p:cNvPr name="Group 13" id="13"/>
          <p:cNvGrpSpPr/>
          <p:nvPr/>
        </p:nvGrpSpPr>
        <p:grpSpPr>
          <a:xfrm rot="0">
            <a:off x="9640995" y="4885522"/>
            <a:ext cx="3932954" cy="3269347"/>
            <a:chOff x="0" y="0"/>
            <a:chExt cx="1035840" cy="861063"/>
          </a:xfrm>
        </p:grpSpPr>
        <p:sp>
          <p:nvSpPr>
            <p:cNvPr name="Freeform 14" id="14"/>
            <p:cNvSpPr/>
            <p:nvPr/>
          </p:nvSpPr>
          <p:spPr>
            <a:xfrm flipH="false" flipV="false" rot="0">
              <a:off x="0" y="0"/>
              <a:ext cx="1035840" cy="861063"/>
            </a:xfrm>
            <a:custGeom>
              <a:avLst/>
              <a:gdLst/>
              <a:ahLst/>
              <a:cxnLst/>
              <a:rect r="r" b="b" t="t" l="l"/>
              <a:pathLst>
                <a:path h="861063" w="1035840">
                  <a:moveTo>
                    <a:pt x="94487" y="0"/>
                  </a:moveTo>
                  <a:lnTo>
                    <a:pt x="941353" y="0"/>
                  </a:lnTo>
                  <a:cubicBezTo>
                    <a:pt x="966412" y="0"/>
                    <a:pt x="990445" y="9955"/>
                    <a:pt x="1008165" y="27675"/>
                  </a:cubicBezTo>
                  <a:cubicBezTo>
                    <a:pt x="1025885" y="45394"/>
                    <a:pt x="1035840" y="69427"/>
                    <a:pt x="1035840" y="94487"/>
                  </a:cubicBezTo>
                  <a:lnTo>
                    <a:pt x="1035840" y="766576"/>
                  </a:lnTo>
                  <a:cubicBezTo>
                    <a:pt x="1035840" y="818760"/>
                    <a:pt x="993537" y="861063"/>
                    <a:pt x="941353" y="861063"/>
                  </a:cubicBezTo>
                  <a:lnTo>
                    <a:pt x="94487" y="861063"/>
                  </a:lnTo>
                  <a:cubicBezTo>
                    <a:pt x="42303" y="861063"/>
                    <a:pt x="0" y="818760"/>
                    <a:pt x="0" y="766576"/>
                  </a:cubicBezTo>
                  <a:lnTo>
                    <a:pt x="0" y="94487"/>
                  </a:lnTo>
                  <a:cubicBezTo>
                    <a:pt x="0" y="42303"/>
                    <a:pt x="42303" y="0"/>
                    <a:pt x="94487"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15" id="15"/>
            <p:cNvSpPr txBox="true"/>
            <p:nvPr/>
          </p:nvSpPr>
          <p:spPr>
            <a:xfrm>
              <a:off x="0" y="-85725"/>
              <a:ext cx="1035840" cy="946788"/>
            </a:xfrm>
            <a:prstGeom prst="rect">
              <a:avLst/>
            </a:prstGeom>
          </p:spPr>
          <p:txBody>
            <a:bodyPr anchor="ctr" rtlCol="false" tIns="50800" lIns="50800" bIns="50800" rIns="50800"/>
            <a:lstStyle/>
            <a:p>
              <a:pPr algn="ctr">
                <a:lnSpc>
                  <a:spcPts val="2663"/>
                </a:lnSpc>
              </a:pPr>
            </a:p>
          </p:txBody>
        </p:sp>
      </p:grpSp>
      <p:sp>
        <p:nvSpPr>
          <p:cNvPr name="TextBox 16" id="16"/>
          <p:cNvSpPr txBox="true"/>
          <p:nvPr/>
        </p:nvSpPr>
        <p:spPr>
          <a:xfrm rot="0">
            <a:off x="11030458" y="4884907"/>
            <a:ext cx="4230844" cy="455930"/>
          </a:xfrm>
          <a:prstGeom prst="rect">
            <a:avLst/>
          </a:prstGeom>
        </p:spPr>
        <p:txBody>
          <a:bodyPr anchor="t" rtlCol="false" tIns="0" lIns="0" bIns="0" rIns="0">
            <a:spAutoFit/>
          </a:bodyPr>
          <a:lstStyle/>
          <a:p>
            <a:pPr algn="just">
              <a:lnSpc>
                <a:spcPts val="3219"/>
              </a:lnSpc>
              <a:spcBef>
                <a:spcPct val="0"/>
              </a:spcBef>
            </a:pPr>
            <a:r>
              <a:rPr lang="en-US" b="true" sz="2299">
                <a:solidFill>
                  <a:srgbClr val="FFFFFF"/>
                </a:solidFill>
                <a:latin typeface="Agrandir Bold"/>
                <a:ea typeface="Agrandir Bold"/>
                <a:cs typeface="Agrandir Bold"/>
                <a:sym typeface="Agrandir Bold"/>
              </a:rPr>
              <a:t>Nivel 2</a:t>
            </a:r>
          </a:p>
        </p:txBody>
      </p:sp>
      <p:sp>
        <p:nvSpPr>
          <p:cNvPr name="TextBox 17" id="17"/>
          <p:cNvSpPr txBox="true"/>
          <p:nvPr/>
        </p:nvSpPr>
        <p:spPr>
          <a:xfrm rot="0">
            <a:off x="9984401" y="5362986"/>
            <a:ext cx="3246141" cy="2406496"/>
          </a:xfrm>
          <a:prstGeom prst="rect">
            <a:avLst/>
          </a:prstGeom>
        </p:spPr>
        <p:txBody>
          <a:bodyPr anchor="t" rtlCol="false" tIns="0" lIns="0" bIns="0" rIns="0">
            <a:spAutoFit/>
          </a:bodyPr>
          <a:lstStyle/>
          <a:p>
            <a:pPr algn="just">
              <a:lnSpc>
                <a:spcPts val="3160"/>
              </a:lnSpc>
              <a:spcBef>
                <a:spcPct val="0"/>
              </a:spcBef>
            </a:pPr>
            <a:r>
              <a:rPr lang="en-US" sz="2257">
                <a:solidFill>
                  <a:srgbClr val="FFFFFF"/>
                </a:solidFill>
                <a:latin typeface="Agrandir"/>
                <a:ea typeface="Agrandir"/>
                <a:cs typeface="Agrandir"/>
                <a:sym typeface="Agrandir"/>
              </a:rPr>
              <a:t>es el nivel donde las variables se reemplazan de forma independiente a su entorno, sin importar los símbolos que las rodean.</a:t>
            </a:r>
          </a:p>
        </p:txBody>
      </p:sp>
      <p:sp>
        <p:nvSpPr>
          <p:cNvPr name="TextBox 18" id="18"/>
          <p:cNvSpPr txBox="true"/>
          <p:nvPr/>
        </p:nvSpPr>
        <p:spPr>
          <a:xfrm rot="0">
            <a:off x="2378151" y="1944755"/>
            <a:ext cx="13531697" cy="953137"/>
          </a:xfrm>
          <a:prstGeom prst="rect">
            <a:avLst/>
          </a:prstGeom>
        </p:spPr>
        <p:txBody>
          <a:bodyPr anchor="t" rtlCol="false" tIns="0" lIns="0" bIns="0" rIns="0">
            <a:spAutoFit/>
          </a:bodyPr>
          <a:lstStyle/>
          <a:p>
            <a:pPr algn="just">
              <a:lnSpc>
                <a:spcPts val="7839"/>
              </a:lnSpc>
              <a:spcBef>
                <a:spcPct val="0"/>
              </a:spcBef>
            </a:pPr>
            <a:r>
              <a:rPr lang="en-US" sz="5599">
                <a:solidFill>
                  <a:srgbClr val="FFFFFF"/>
                </a:solidFill>
                <a:latin typeface="Shrikhand"/>
                <a:ea typeface="Shrikhand"/>
                <a:cs typeface="Shrikhand"/>
                <a:sym typeface="Shrikhand"/>
              </a:rPr>
              <a:t>Jerarquía de Chomsky (4 niveles):</a:t>
            </a:r>
          </a:p>
        </p:txBody>
      </p:sp>
      <p:sp>
        <p:nvSpPr>
          <p:cNvPr name="TextBox 19" id="19"/>
          <p:cNvSpPr txBox="true"/>
          <p:nvPr/>
        </p:nvSpPr>
        <p:spPr>
          <a:xfrm rot="0">
            <a:off x="3218036" y="3119129"/>
            <a:ext cx="11851928" cy="855980"/>
          </a:xfrm>
          <a:prstGeom prst="rect">
            <a:avLst/>
          </a:prstGeom>
        </p:spPr>
        <p:txBody>
          <a:bodyPr anchor="t" rtlCol="false" tIns="0" lIns="0" bIns="0" rIns="0">
            <a:spAutoFit/>
          </a:bodyPr>
          <a:lstStyle/>
          <a:p>
            <a:pPr algn="just">
              <a:lnSpc>
                <a:spcPts val="3219"/>
              </a:lnSpc>
              <a:spcBef>
                <a:spcPct val="0"/>
              </a:spcBef>
            </a:pPr>
            <a:r>
              <a:rPr lang="en-US" sz="2299">
                <a:solidFill>
                  <a:srgbClr val="FFFFFF"/>
                </a:solidFill>
                <a:latin typeface="Agrandir"/>
                <a:ea typeface="Agrandir"/>
                <a:cs typeface="Agrandir"/>
                <a:sym typeface="Agrandir"/>
              </a:rPr>
              <a:t>La Jerarquía de Chomsky clasifica las gramáticas formales en cuatro tipos, donde cada tipo añade restricciones al anterior y está asociado a un autómata específico.</a:t>
            </a:r>
          </a:p>
        </p:txBody>
      </p:sp>
      <p:grpSp>
        <p:nvGrpSpPr>
          <p:cNvPr name="Group 20" id="20"/>
          <p:cNvGrpSpPr/>
          <p:nvPr/>
        </p:nvGrpSpPr>
        <p:grpSpPr>
          <a:xfrm rot="0">
            <a:off x="13973999" y="4820137"/>
            <a:ext cx="3566549" cy="3269347"/>
            <a:chOff x="0" y="0"/>
            <a:chExt cx="939338" cy="861063"/>
          </a:xfrm>
        </p:grpSpPr>
        <p:sp>
          <p:nvSpPr>
            <p:cNvPr name="Freeform 21" id="21"/>
            <p:cNvSpPr/>
            <p:nvPr/>
          </p:nvSpPr>
          <p:spPr>
            <a:xfrm flipH="false" flipV="false" rot="0">
              <a:off x="0" y="0"/>
              <a:ext cx="939338" cy="861063"/>
            </a:xfrm>
            <a:custGeom>
              <a:avLst/>
              <a:gdLst/>
              <a:ahLst/>
              <a:cxnLst/>
              <a:rect r="r" b="b" t="t" l="l"/>
              <a:pathLst>
                <a:path h="861063" w="939338">
                  <a:moveTo>
                    <a:pt x="104194" y="0"/>
                  </a:moveTo>
                  <a:lnTo>
                    <a:pt x="835144" y="0"/>
                  </a:lnTo>
                  <a:cubicBezTo>
                    <a:pt x="862778" y="0"/>
                    <a:pt x="889280" y="10978"/>
                    <a:pt x="908820" y="30518"/>
                  </a:cubicBezTo>
                  <a:cubicBezTo>
                    <a:pt x="928360" y="50058"/>
                    <a:pt x="939338" y="76560"/>
                    <a:pt x="939338" y="104194"/>
                  </a:cubicBezTo>
                  <a:lnTo>
                    <a:pt x="939338" y="756869"/>
                  </a:lnTo>
                  <a:cubicBezTo>
                    <a:pt x="939338" y="784503"/>
                    <a:pt x="928360" y="811005"/>
                    <a:pt x="908820" y="830545"/>
                  </a:cubicBezTo>
                  <a:cubicBezTo>
                    <a:pt x="889280" y="850085"/>
                    <a:pt x="862778" y="861063"/>
                    <a:pt x="835144" y="861063"/>
                  </a:cubicBezTo>
                  <a:lnTo>
                    <a:pt x="104194" y="861063"/>
                  </a:lnTo>
                  <a:cubicBezTo>
                    <a:pt x="76560" y="861063"/>
                    <a:pt x="50058" y="850085"/>
                    <a:pt x="30518" y="830545"/>
                  </a:cubicBezTo>
                  <a:cubicBezTo>
                    <a:pt x="10978" y="811005"/>
                    <a:pt x="0" y="784503"/>
                    <a:pt x="0" y="756869"/>
                  </a:cubicBezTo>
                  <a:lnTo>
                    <a:pt x="0" y="104194"/>
                  </a:lnTo>
                  <a:cubicBezTo>
                    <a:pt x="0" y="76560"/>
                    <a:pt x="10978" y="50058"/>
                    <a:pt x="30518" y="30518"/>
                  </a:cubicBezTo>
                  <a:cubicBezTo>
                    <a:pt x="50058" y="10978"/>
                    <a:pt x="76560" y="0"/>
                    <a:pt x="104194"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22" id="22"/>
            <p:cNvSpPr txBox="true"/>
            <p:nvPr/>
          </p:nvSpPr>
          <p:spPr>
            <a:xfrm>
              <a:off x="0" y="-85725"/>
              <a:ext cx="939338" cy="946788"/>
            </a:xfrm>
            <a:prstGeom prst="rect">
              <a:avLst/>
            </a:prstGeom>
          </p:spPr>
          <p:txBody>
            <a:bodyPr anchor="ctr" rtlCol="false" tIns="50800" lIns="50800" bIns="50800" rIns="50800"/>
            <a:lstStyle/>
            <a:p>
              <a:pPr algn="ctr">
                <a:lnSpc>
                  <a:spcPts val="2663"/>
                </a:lnSpc>
              </a:pPr>
            </a:p>
          </p:txBody>
        </p:sp>
      </p:grpSp>
      <p:sp>
        <p:nvSpPr>
          <p:cNvPr name="TextBox 23" id="23"/>
          <p:cNvSpPr txBox="true"/>
          <p:nvPr/>
        </p:nvSpPr>
        <p:spPr>
          <a:xfrm rot="0">
            <a:off x="15423227" y="4858385"/>
            <a:ext cx="4230844" cy="455930"/>
          </a:xfrm>
          <a:prstGeom prst="rect">
            <a:avLst/>
          </a:prstGeom>
        </p:spPr>
        <p:txBody>
          <a:bodyPr anchor="t" rtlCol="false" tIns="0" lIns="0" bIns="0" rIns="0">
            <a:spAutoFit/>
          </a:bodyPr>
          <a:lstStyle/>
          <a:p>
            <a:pPr algn="just">
              <a:lnSpc>
                <a:spcPts val="3219"/>
              </a:lnSpc>
              <a:spcBef>
                <a:spcPct val="0"/>
              </a:spcBef>
            </a:pPr>
            <a:r>
              <a:rPr lang="en-US" b="true" sz="2299">
                <a:solidFill>
                  <a:srgbClr val="FFFFFF"/>
                </a:solidFill>
                <a:latin typeface="Agrandir Bold"/>
                <a:ea typeface="Agrandir Bold"/>
                <a:cs typeface="Agrandir Bold"/>
                <a:sym typeface="Agrandir Bold"/>
              </a:rPr>
              <a:t>Nivel 3</a:t>
            </a:r>
          </a:p>
        </p:txBody>
      </p:sp>
      <p:sp>
        <p:nvSpPr>
          <p:cNvPr name="TextBox 24" id="24"/>
          <p:cNvSpPr txBox="true"/>
          <p:nvPr/>
        </p:nvSpPr>
        <p:spPr>
          <a:xfrm rot="0">
            <a:off x="14126574" y="5322942"/>
            <a:ext cx="3413974" cy="2505634"/>
          </a:xfrm>
          <a:prstGeom prst="rect">
            <a:avLst/>
          </a:prstGeom>
        </p:spPr>
        <p:txBody>
          <a:bodyPr anchor="t" rtlCol="false" tIns="0" lIns="0" bIns="0" rIns="0">
            <a:spAutoFit/>
          </a:bodyPr>
          <a:lstStyle/>
          <a:p>
            <a:pPr algn="l">
              <a:lnSpc>
                <a:spcPts val="2769"/>
              </a:lnSpc>
              <a:spcBef>
                <a:spcPct val="0"/>
              </a:spcBef>
            </a:pPr>
            <a:r>
              <a:rPr lang="en-US" sz="1978">
                <a:solidFill>
                  <a:srgbClr val="FFFFFF"/>
                </a:solidFill>
                <a:latin typeface="Agrandir"/>
                <a:ea typeface="Agrandir"/>
                <a:cs typeface="Agrandir"/>
                <a:sym typeface="Agrandir"/>
              </a:rPr>
              <a:t> Conocido como gramáticas regulares, es el nivel más simple y restrictivo. Sus reglas son lineales, del tipo A → aB o A → a, lo que limita su capacidad a patrones simples.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4008267" y="3362325"/>
            <a:ext cx="5657850" cy="56578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33450" cap="sq">
              <a:gradFill>
                <a:gsLst>
                  <a:gs pos="0">
                    <a:srgbClr val="0078A8">
                      <a:alpha val="0"/>
                    </a:srgbClr>
                  </a:gs>
                  <a:gs pos="100000">
                    <a:srgbClr val="036E99">
                      <a:alpha val="630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455317" y="5882035"/>
            <a:ext cx="4590548" cy="4114800"/>
          </a:xfrm>
          <a:custGeom>
            <a:avLst/>
            <a:gdLst/>
            <a:ahLst/>
            <a:cxnLst/>
            <a:rect r="r" b="b" t="t" l="l"/>
            <a:pathLst>
              <a:path h="4114800" w="4590548">
                <a:moveTo>
                  <a:pt x="0" y="0"/>
                </a:moveTo>
                <a:lnTo>
                  <a:pt x="4590547" y="0"/>
                </a:lnTo>
                <a:lnTo>
                  <a:pt x="459054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287605" y="2931008"/>
            <a:ext cx="12435787" cy="2644395"/>
          </a:xfrm>
          <a:prstGeom prst="rect">
            <a:avLst/>
          </a:prstGeom>
        </p:spPr>
        <p:txBody>
          <a:bodyPr anchor="t" rtlCol="false" tIns="0" lIns="0" bIns="0" rIns="0">
            <a:spAutoFit/>
          </a:bodyPr>
          <a:lstStyle/>
          <a:p>
            <a:pPr algn="ctr">
              <a:lnSpc>
                <a:spcPts val="10695"/>
              </a:lnSpc>
              <a:spcBef>
                <a:spcPct val="0"/>
              </a:spcBef>
            </a:pPr>
            <a:r>
              <a:rPr lang="en-US" sz="7639">
                <a:solidFill>
                  <a:srgbClr val="FFFFFF"/>
                </a:solidFill>
                <a:latin typeface="Shrikhand"/>
                <a:ea typeface="Shrikhand"/>
                <a:cs typeface="Shrikhand"/>
                <a:sym typeface="Shrikhand"/>
              </a:rPr>
              <a:t>Derivación y Modelado (Genoma)</a:t>
            </a:r>
          </a:p>
        </p:txBody>
      </p:sp>
      <p:sp>
        <p:nvSpPr>
          <p:cNvPr name="TextBox 8" id="8"/>
          <p:cNvSpPr txBox="true"/>
          <p:nvPr/>
        </p:nvSpPr>
        <p:spPr>
          <a:xfrm rot="0">
            <a:off x="2287605" y="5883365"/>
            <a:ext cx="11949772" cy="2056070"/>
          </a:xfrm>
          <a:prstGeom prst="rect">
            <a:avLst/>
          </a:prstGeom>
        </p:spPr>
        <p:txBody>
          <a:bodyPr anchor="t" rtlCol="false" tIns="0" lIns="0" bIns="0" rIns="0">
            <a:spAutoFit/>
          </a:bodyPr>
          <a:lstStyle/>
          <a:p>
            <a:pPr algn="just">
              <a:lnSpc>
                <a:spcPts val="3223"/>
              </a:lnSpc>
              <a:spcBef>
                <a:spcPct val="0"/>
              </a:spcBef>
            </a:pPr>
            <a:r>
              <a:rPr lang="en-US" sz="2302">
                <a:solidFill>
                  <a:srgbClr val="FFFFFF"/>
                </a:solidFill>
                <a:latin typeface="Agrandir"/>
                <a:ea typeface="Agrandir"/>
                <a:cs typeface="Agrandir"/>
                <a:sym typeface="Agrandir"/>
              </a:rPr>
              <a:t>Explorando la intersección entre la teoría de lenguajes formales y el diseño gráfico. Esta propuesta utiliza una Gramática Libre de Contexto para codificar formas geométricas y estructuras orgánicas en cadenas de 'genoma visual', demostrando cómo reglas simples pueden generar una complejidad infinita mediante la iteración y la recursión.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473302" y="6028435"/>
            <a:ext cx="8401050" cy="1541775"/>
          </a:xfrm>
          <a:custGeom>
            <a:avLst/>
            <a:gdLst/>
            <a:ahLst/>
            <a:cxnLst/>
            <a:rect r="r" b="b" t="t" l="l"/>
            <a:pathLst>
              <a:path h="1541775" w="8401050">
                <a:moveTo>
                  <a:pt x="0" y="0"/>
                </a:moveTo>
                <a:lnTo>
                  <a:pt x="8401050" y="0"/>
                </a:lnTo>
                <a:lnTo>
                  <a:pt x="8401050" y="1541775"/>
                </a:lnTo>
                <a:lnTo>
                  <a:pt x="0" y="1541775"/>
                </a:lnTo>
                <a:lnTo>
                  <a:pt x="0" y="0"/>
                </a:lnTo>
                <a:close/>
              </a:path>
            </a:pathLst>
          </a:custGeom>
          <a:blipFill>
            <a:blip r:embed="rId3"/>
            <a:stretch>
              <a:fillRect l="-750" t="0" r="-750" b="0"/>
            </a:stretch>
          </a:blipFill>
        </p:spPr>
      </p:sp>
      <p:sp>
        <p:nvSpPr>
          <p:cNvPr name="Freeform 4" id="4"/>
          <p:cNvSpPr/>
          <p:nvPr/>
        </p:nvSpPr>
        <p:spPr>
          <a:xfrm flipH="false" flipV="false" rot="0">
            <a:off x="1473302" y="5954016"/>
            <a:ext cx="8626691" cy="1616194"/>
          </a:xfrm>
          <a:custGeom>
            <a:avLst/>
            <a:gdLst/>
            <a:ahLst/>
            <a:cxnLst/>
            <a:rect r="r" b="b" t="t" l="l"/>
            <a:pathLst>
              <a:path h="1616194" w="8626691">
                <a:moveTo>
                  <a:pt x="0" y="0"/>
                </a:moveTo>
                <a:lnTo>
                  <a:pt x="8626691" y="0"/>
                </a:lnTo>
                <a:lnTo>
                  <a:pt x="8626691" y="1616194"/>
                </a:lnTo>
                <a:lnTo>
                  <a:pt x="0" y="1616194"/>
                </a:lnTo>
                <a:lnTo>
                  <a:pt x="0" y="0"/>
                </a:lnTo>
                <a:close/>
              </a:path>
            </a:pathLst>
          </a:custGeom>
          <a:blipFill>
            <a:blip r:embed="rId4"/>
            <a:stretch>
              <a:fillRect l="-2615" t="0" r="-1069" b="0"/>
            </a:stretch>
          </a:blipFill>
        </p:spPr>
      </p:sp>
      <p:sp>
        <p:nvSpPr>
          <p:cNvPr name="TextBox 5" id="5"/>
          <p:cNvSpPr txBox="true"/>
          <p:nvPr/>
        </p:nvSpPr>
        <p:spPr>
          <a:xfrm rot="0">
            <a:off x="3330311" y="5238115"/>
            <a:ext cx="4687032" cy="1238250"/>
          </a:xfrm>
          <a:prstGeom prst="rect">
            <a:avLst/>
          </a:prstGeom>
        </p:spPr>
        <p:txBody>
          <a:bodyPr anchor="t" rtlCol="false" tIns="0" lIns="0" bIns="0" rIns="0">
            <a:spAutoFit/>
          </a:bodyPr>
          <a:lstStyle/>
          <a:p>
            <a:pPr algn="just">
              <a:lnSpc>
                <a:spcPts val="3219"/>
              </a:lnSpc>
            </a:pPr>
            <a:r>
              <a:rPr lang="en-US" sz="2299" b="true">
                <a:solidFill>
                  <a:srgbClr val="FFFFFF"/>
                </a:solidFill>
                <a:latin typeface="Agrandir Bold"/>
                <a:ea typeface="Agrandir Bold"/>
                <a:cs typeface="Agrandir Bold"/>
                <a:sym typeface="Agrandir Bold"/>
              </a:rPr>
              <a:t>Correspondencia de comandos:</a:t>
            </a:r>
          </a:p>
          <a:p>
            <a:pPr algn="just">
              <a:lnSpc>
                <a:spcPts val="3079"/>
              </a:lnSpc>
            </a:pPr>
          </a:p>
          <a:p>
            <a:pPr algn="just">
              <a:lnSpc>
                <a:spcPts val="3079"/>
              </a:lnSpc>
              <a:spcBef>
                <a:spcPct val="0"/>
              </a:spcBef>
            </a:pPr>
          </a:p>
        </p:txBody>
      </p:sp>
      <p:sp>
        <p:nvSpPr>
          <p:cNvPr name="TextBox 6" id="6"/>
          <p:cNvSpPr txBox="true"/>
          <p:nvPr/>
        </p:nvSpPr>
        <p:spPr>
          <a:xfrm rot="0">
            <a:off x="2815387" y="923925"/>
            <a:ext cx="13228725" cy="1943734"/>
          </a:xfrm>
          <a:prstGeom prst="rect">
            <a:avLst/>
          </a:prstGeom>
        </p:spPr>
        <p:txBody>
          <a:bodyPr anchor="t" rtlCol="false" tIns="0" lIns="0" bIns="0" rIns="0">
            <a:spAutoFit/>
          </a:bodyPr>
          <a:lstStyle/>
          <a:p>
            <a:pPr algn="ctr">
              <a:lnSpc>
                <a:spcPts val="7840"/>
              </a:lnSpc>
              <a:spcBef>
                <a:spcPct val="0"/>
              </a:spcBef>
            </a:pPr>
            <a:r>
              <a:rPr lang="en-US" sz="5600">
                <a:solidFill>
                  <a:srgbClr val="FFFFFF"/>
                </a:solidFill>
                <a:latin typeface="Shrikhand"/>
                <a:ea typeface="Shrikhand"/>
                <a:cs typeface="Shrikhand"/>
                <a:sym typeface="Shrikhand"/>
              </a:rPr>
              <a:t>Gramática Libre de Contexto para Dibujo Genético</a:t>
            </a:r>
          </a:p>
        </p:txBody>
      </p:sp>
      <p:sp>
        <p:nvSpPr>
          <p:cNvPr name="TextBox 7" id="7"/>
          <p:cNvSpPr txBox="true"/>
          <p:nvPr/>
        </p:nvSpPr>
        <p:spPr>
          <a:xfrm rot="0">
            <a:off x="1473302" y="3080970"/>
            <a:ext cx="9657805" cy="1256030"/>
          </a:xfrm>
          <a:prstGeom prst="rect">
            <a:avLst/>
          </a:prstGeom>
        </p:spPr>
        <p:txBody>
          <a:bodyPr anchor="t" rtlCol="false" tIns="0" lIns="0" bIns="0" rIns="0">
            <a:spAutoFit/>
          </a:bodyPr>
          <a:lstStyle/>
          <a:p>
            <a:pPr algn="just">
              <a:lnSpc>
                <a:spcPts val="3219"/>
              </a:lnSpc>
              <a:spcBef>
                <a:spcPct val="0"/>
              </a:spcBef>
            </a:pPr>
            <a:r>
              <a:rPr lang="en-US" sz="2299">
                <a:solidFill>
                  <a:srgbClr val="FFFFFF"/>
                </a:solidFill>
                <a:latin typeface="Agrandir"/>
                <a:ea typeface="Agrandir"/>
                <a:cs typeface="Agrandir"/>
                <a:sym typeface="Agrandir"/>
              </a:rPr>
              <a:t>GLC inspirada en L-systems que modela figuras geométricas y biológicas con alfabeto Σ = {a, c, g, t} e interpretación mediante modelo de tortuga.</a:t>
            </a:r>
          </a:p>
        </p:txBody>
      </p:sp>
      <p:sp>
        <p:nvSpPr>
          <p:cNvPr name="TextBox 8" id="8"/>
          <p:cNvSpPr txBox="true"/>
          <p:nvPr/>
        </p:nvSpPr>
        <p:spPr>
          <a:xfrm rot="0">
            <a:off x="12348931" y="3071445"/>
            <a:ext cx="3408032" cy="481965"/>
          </a:xfrm>
          <a:prstGeom prst="rect">
            <a:avLst/>
          </a:prstGeom>
        </p:spPr>
        <p:txBody>
          <a:bodyPr anchor="t" rtlCol="false" tIns="0" lIns="0" bIns="0" rIns="0">
            <a:spAutoFit/>
          </a:bodyPr>
          <a:lstStyle/>
          <a:p>
            <a:pPr algn="just">
              <a:lnSpc>
                <a:spcPts val="3359"/>
              </a:lnSpc>
              <a:spcBef>
                <a:spcPct val="0"/>
              </a:spcBef>
            </a:pPr>
            <a:r>
              <a:rPr lang="en-US" b="true" sz="2399">
                <a:solidFill>
                  <a:srgbClr val="FFFFFF"/>
                </a:solidFill>
                <a:latin typeface="Agrandir Bold"/>
                <a:ea typeface="Agrandir Bold"/>
                <a:cs typeface="Agrandir Bold"/>
                <a:sym typeface="Agrandir Bold"/>
              </a:rPr>
              <a:t>Definición formal:</a:t>
            </a:r>
          </a:p>
        </p:txBody>
      </p:sp>
      <p:sp>
        <p:nvSpPr>
          <p:cNvPr name="TextBox 9" id="9"/>
          <p:cNvSpPr txBox="true"/>
          <p:nvPr/>
        </p:nvSpPr>
        <p:spPr>
          <a:xfrm rot="0">
            <a:off x="12348931" y="3661360"/>
            <a:ext cx="4230844" cy="1539815"/>
          </a:xfrm>
          <a:prstGeom prst="rect">
            <a:avLst/>
          </a:prstGeom>
        </p:spPr>
        <p:txBody>
          <a:bodyPr anchor="t" rtlCol="false" tIns="0" lIns="0" bIns="0" rIns="0">
            <a:spAutoFit/>
          </a:bodyPr>
          <a:lstStyle/>
          <a:p>
            <a:pPr algn="just" marL="475488" indent="-237744" lvl="1">
              <a:lnSpc>
                <a:spcPts val="3083"/>
              </a:lnSpc>
              <a:buFont typeface="Arial"/>
              <a:buChar char="•"/>
            </a:pPr>
            <a:r>
              <a:rPr lang="en-US" sz="2202">
                <a:solidFill>
                  <a:srgbClr val="FFFFFF"/>
                </a:solidFill>
                <a:latin typeface="Agrandir"/>
                <a:ea typeface="Agrandir"/>
                <a:cs typeface="Agrandir"/>
                <a:sym typeface="Agrandir"/>
              </a:rPr>
              <a:t>No terminales: N = {D, F, R}</a:t>
            </a:r>
          </a:p>
          <a:p>
            <a:pPr algn="just" marL="475488" indent="-237744" lvl="1">
              <a:lnSpc>
                <a:spcPts val="3083"/>
              </a:lnSpc>
              <a:buFont typeface="Arial"/>
              <a:buChar char="•"/>
            </a:pPr>
            <a:r>
              <a:rPr lang="en-US" sz="2202">
                <a:solidFill>
                  <a:srgbClr val="FFFFFF"/>
                </a:solidFill>
                <a:latin typeface="Agrandir"/>
                <a:ea typeface="Agrandir"/>
                <a:cs typeface="Agrandir"/>
                <a:sym typeface="Agrandir"/>
              </a:rPr>
              <a:t>Símbolo inicial: D</a:t>
            </a:r>
          </a:p>
          <a:p>
            <a:pPr algn="just" marL="475488" indent="-237744" lvl="1">
              <a:lnSpc>
                <a:spcPts val="3083"/>
              </a:lnSpc>
              <a:buFont typeface="Arial"/>
              <a:buChar char="•"/>
            </a:pPr>
            <a:r>
              <a:rPr lang="en-US" sz="2202">
                <a:solidFill>
                  <a:srgbClr val="FFFFFF"/>
                </a:solidFill>
                <a:latin typeface="Agrandir"/>
                <a:ea typeface="Agrandir"/>
                <a:cs typeface="Agrandir"/>
                <a:sym typeface="Agrandir"/>
              </a:rPr>
              <a:t>Producciones:</a:t>
            </a:r>
          </a:p>
          <a:p>
            <a:pPr algn="just">
              <a:lnSpc>
                <a:spcPts val="2523"/>
              </a:lnSpc>
              <a:spcBef>
                <a:spcPct val="0"/>
              </a:spcBef>
            </a:pPr>
          </a:p>
        </p:txBody>
      </p:sp>
      <p:sp>
        <p:nvSpPr>
          <p:cNvPr name="TextBox 10" id="10"/>
          <p:cNvSpPr txBox="true"/>
          <p:nvPr/>
        </p:nvSpPr>
        <p:spPr>
          <a:xfrm rot="0">
            <a:off x="13099609" y="5029200"/>
            <a:ext cx="2729488" cy="1656080"/>
          </a:xfrm>
          <a:prstGeom prst="rect">
            <a:avLst/>
          </a:prstGeom>
        </p:spPr>
        <p:txBody>
          <a:bodyPr anchor="t" rtlCol="false" tIns="0" lIns="0" bIns="0" rIns="0">
            <a:spAutoFit/>
          </a:bodyPr>
          <a:lstStyle/>
          <a:p>
            <a:pPr algn="just" marL="496569" indent="-248284" lvl="1">
              <a:lnSpc>
                <a:spcPts val="3219"/>
              </a:lnSpc>
              <a:buFont typeface="Arial"/>
              <a:buChar char="•"/>
            </a:pPr>
            <a:r>
              <a:rPr lang="en-US" sz="2299">
                <a:solidFill>
                  <a:srgbClr val="FFFFFF"/>
                </a:solidFill>
                <a:latin typeface="Agrandir"/>
                <a:ea typeface="Agrandir"/>
                <a:cs typeface="Agrandir"/>
                <a:sym typeface="Agrandir"/>
              </a:rPr>
              <a:t>D → F | F R D</a:t>
            </a:r>
          </a:p>
          <a:p>
            <a:pPr algn="just" marL="496569" indent="-248284" lvl="1">
              <a:lnSpc>
                <a:spcPts val="3219"/>
              </a:lnSpc>
              <a:buFont typeface="Arial"/>
              <a:buChar char="•"/>
            </a:pPr>
            <a:r>
              <a:rPr lang="en-US" sz="2299">
                <a:solidFill>
                  <a:srgbClr val="FFFFFF"/>
                </a:solidFill>
                <a:latin typeface="Agrandir"/>
                <a:ea typeface="Agrandir"/>
                <a:cs typeface="Agrandir"/>
                <a:sym typeface="Agrandir"/>
              </a:rPr>
              <a:t>F → a F | c F | ε</a:t>
            </a:r>
          </a:p>
          <a:p>
            <a:pPr algn="just" marL="496569" indent="-248284" lvl="1">
              <a:lnSpc>
                <a:spcPts val="3219"/>
              </a:lnSpc>
              <a:buFont typeface="Arial"/>
              <a:buChar char="•"/>
            </a:pPr>
            <a:r>
              <a:rPr lang="en-US" sz="2299">
                <a:solidFill>
                  <a:srgbClr val="FFFFFF"/>
                </a:solidFill>
                <a:latin typeface="Agrandir"/>
                <a:ea typeface="Agrandir"/>
                <a:cs typeface="Agrandir"/>
                <a:sym typeface="Agrandir"/>
              </a:rPr>
              <a:t>R → g F t R | ε</a:t>
            </a:r>
          </a:p>
          <a:p>
            <a:pPr algn="just">
              <a:lnSpc>
                <a:spcPts val="321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a:grpSpLocks noChangeAspect="true"/>
          </p:cNvGrpSpPr>
          <p:nvPr/>
        </p:nvGrpSpPr>
        <p:grpSpPr>
          <a:xfrm rot="0">
            <a:off x="1773657" y="5143500"/>
            <a:ext cx="2753121" cy="2753121"/>
            <a:chOff x="0" y="0"/>
            <a:chExt cx="14840029" cy="14840029"/>
          </a:xfrm>
        </p:grpSpPr>
        <p:sp>
          <p:nvSpPr>
            <p:cNvPr name="Freeform 4" id="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036E99">
                    <a:alpha val="100000"/>
                  </a:srgbClr>
                </a:gs>
                <a:gs pos="100000">
                  <a:srgbClr val="0078A8">
                    <a:alpha val="0"/>
                  </a:srgbClr>
                </a:gs>
              </a:gsLst>
              <a:lin ang="0"/>
            </a:gradFill>
          </p:spPr>
        </p:sp>
        <p:sp>
          <p:nvSpPr>
            <p:cNvPr name="Freeform 5" id="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6" id="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23" t="0" r="223" b="0"/>
              </a:stretch>
            </a:blipFill>
          </p:spPr>
        </p:sp>
      </p:grpSp>
      <p:grpSp>
        <p:nvGrpSpPr>
          <p:cNvPr name="Group 7" id="7"/>
          <p:cNvGrpSpPr>
            <a:grpSpLocks noChangeAspect="true"/>
          </p:cNvGrpSpPr>
          <p:nvPr/>
        </p:nvGrpSpPr>
        <p:grpSpPr>
          <a:xfrm rot="0">
            <a:off x="7758804" y="5273458"/>
            <a:ext cx="2770393" cy="2770393"/>
            <a:chOff x="0" y="0"/>
            <a:chExt cx="14840029" cy="14840029"/>
          </a:xfrm>
        </p:grpSpPr>
        <p:sp>
          <p:nvSpPr>
            <p:cNvPr name="Freeform 8" id="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036E99">
                    <a:alpha val="100000"/>
                  </a:srgbClr>
                </a:gs>
                <a:gs pos="100000">
                  <a:srgbClr val="0078A8">
                    <a:alpha val="0"/>
                  </a:srgbClr>
                </a:gs>
              </a:gsLst>
              <a:lin ang="0"/>
            </a:gradFill>
          </p:spPr>
        </p:sp>
        <p:sp>
          <p:nvSpPr>
            <p:cNvPr name="Freeform 9" id="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0" id="1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0" r="223" b="0"/>
              </a:stretch>
            </a:blipFill>
          </p:spPr>
        </p:sp>
      </p:grpSp>
      <p:grpSp>
        <p:nvGrpSpPr>
          <p:cNvPr name="Group 11" id="11"/>
          <p:cNvGrpSpPr>
            <a:grpSpLocks noChangeAspect="true"/>
          </p:cNvGrpSpPr>
          <p:nvPr/>
        </p:nvGrpSpPr>
        <p:grpSpPr>
          <a:xfrm rot="0">
            <a:off x="13554783" y="5134580"/>
            <a:ext cx="2909271" cy="2909271"/>
            <a:chOff x="0" y="0"/>
            <a:chExt cx="14840029" cy="14840029"/>
          </a:xfrm>
        </p:grpSpPr>
        <p:sp>
          <p:nvSpPr>
            <p:cNvPr name="Freeform 12" id="12"/>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036E99">
                    <a:alpha val="100000"/>
                  </a:srgbClr>
                </a:gs>
                <a:gs pos="100000">
                  <a:srgbClr val="0078A8">
                    <a:alpha val="0"/>
                  </a:srgbClr>
                </a:gs>
              </a:gsLst>
              <a:lin ang="0"/>
            </a:gradFill>
          </p:spPr>
        </p:sp>
        <p:sp>
          <p:nvSpPr>
            <p:cNvPr name="Freeform 13" id="13"/>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4" id="14"/>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t="0" r="223" b="0"/>
              </a:stretch>
            </a:blipFill>
          </p:spPr>
        </p:sp>
      </p:grpSp>
      <p:sp>
        <p:nvSpPr>
          <p:cNvPr name="TextBox 15" id="15"/>
          <p:cNvSpPr txBox="true"/>
          <p:nvPr/>
        </p:nvSpPr>
        <p:spPr>
          <a:xfrm rot="0">
            <a:off x="4401550" y="670553"/>
            <a:ext cx="9016310" cy="2115184"/>
          </a:xfrm>
          <a:prstGeom prst="rect">
            <a:avLst/>
          </a:prstGeom>
        </p:spPr>
        <p:txBody>
          <a:bodyPr anchor="t" rtlCol="false" tIns="0" lIns="0" bIns="0" rIns="0">
            <a:spAutoFit/>
          </a:bodyPr>
          <a:lstStyle/>
          <a:p>
            <a:pPr algn="ctr">
              <a:lnSpc>
                <a:spcPts val="7840"/>
              </a:lnSpc>
              <a:spcBef>
                <a:spcPct val="0"/>
              </a:spcBef>
            </a:pPr>
            <a:r>
              <a:rPr lang="en-US" b="true" sz="5600">
                <a:solidFill>
                  <a:srgbClr val="FFFFFF"/>
                </a:solidFill>
                <a:latin typeface="Agrandir Bold"/>
                <a:ea typeface="Agrandir Bold"/>
                <a:cs typeface="Agrandir Bold"/>
                <a:sym typeface="Agrandir Bold"/>
              </a:rPr>
              <a:t>Derivación Paso a Paso – Figuras Geométricas</a:t>
            </a:r>
          </a:p>
        </p:txBody>
      </p:sp>
      <p:sp>
        <p:nvSpPr>
          <p:cNvPr name="TextBox 16" id="16"/>
          <p:cNvSpPr txBox="true"/>
          <p:nvPr/>
        </p:nvSpPr>
        <p:spPr>
          <a:xfrm rot="0">
            <a:off x="1306074" y="3791357"/>
            <a:ext cx="3688287" cy="455870"/>
          </a:xfrm>
          <a:prstGeom prst="rect">
            <a:avLst/>
          </a:prstGeom>
        </p:spPr>
        <p:txBody>
          <a:bodyPr anchor="t" rtlCol="false" tIns="0" lIns="0" bIns="0" rIns="0">
            <a:spAutoFit/>
          </a:bodyPr>
          <a:lstStyle/>
          <a:p>
            <a:pPr algn="just">
              <a:lnSpc>
                <a:spcPts val="3223"/>
              </a:lnSpc>
              <a:spcBef>
                <a:spcPct val="0"/>
              </a:spcBef>
            </a:pPr>
            <a:r>
              <a:rPr lang="en-US" b="true" sz="2302">
                <a:solidFill>
                  <a:srgbClr val="FFFFFF"/>
                </a:solidFill>
                <a:latin typeface="Agrandir Bold"/>
                <a:ea typeface="Agrandir Bold"/>
                <a:cs typeface="Agrandir Bold"/>
                <a:sym typeface="Agrandir Bold"/>
              </a:rPr>
              <a:t>1. Cuadrado (ángulo 90°):</a:t>
            </a:r>
          </a:p>
        </p:txBody>
      </p:sp>
      <p:sp>
        <p:nvSpPr>
          <p:cNvPr name="TextBox 17" id="17"/>
          <p:cNvSpPr txBox="true"/>
          <p:nvPr/>
        </p:nvSpPr>
        <p:spPr>
          <a:xfrm rot="0">
            <a:off x="2049608" y="4273203"/>
            <a:ext cx="2201219" cy="794325"/>
          </a:xfrm>
          <a:prstGeom prst="rect">
            <a:avLst/>
          </a:prstGeom>
        </p:spPr>
        <p:txBody>
          <a:bodyPr anchor="t" rtlCol="false" tIns="0" lIns="0" bIns="0" rIns="0">
            <a:spAutoFit/>
          </a:bodyPr>
          <a:lstStyle/>
          <a:p>
            <a:pPr algn="just">
              <a:lnSpc>
                <a:spcPts val="2943"/>
              </a:lnSpc>
            </a:pPr>
            <a:r>
              <a:rPr lang="en-US" sz="2102">
                <a:solidFill>
                  <a:srgbClr val="FFFFFF"/>
                </a:solidFill>
                <a:latin typeface="Agrandir"/>
                <a:ea typeface="Agrandir"/>
                <a:cs typeface="Agrandir"/>
                <a:sym typeface="Agrandir"/>
              </a:rPr>
              <a:t>D ⇒ a c a c a c a</a:t>
            </a:r>
          </a:p>
          <a:p>
            <a:pPr algn="just">
              <a:lnSpc>
                <a:spcPts val="2943"/>
              </a:lnSpc>
              <a:spcBef>
                <a:spcPct val="0"/>
              </a:spcBef>
            </a:pPr>
          </a:p>
        </p:txBody>
      </p:sp>
      <p:sp>
        <p:nvSpPr>
          <p:cNvPr name="TextBox 18" id="18"/>
          <p:cNvSpPr txBox="true"/>
          <p:nvPr/>
        </p:nvSpPr>
        <p:spPr>
          <a:xfrm rot="0">
            <a:off x="1442819" y="7939076"/>
            <a:ext cx="3551543" cy="794325"/>
          </a:xfrm>
          <a:prstGeom prst="rect">
            <a:avLst/>
          </a:prstGeom>
        </p:spPr>
        <p:txBody>
          <a:bodyPr anchor="t" rtlCol="false" tIns="0" lIns="0" bIns="0" rIns="0">
            <a:spAutoFit/>
          </a:bodyPr>
          <a:lstStyle/>
          <a:p>
            <a:pPr algn="ctr">
              <a:lnSpc>
                <a:spcPts val="2943"/>
              </a:lnSpc>
              <a:spcBef>
                <a:spcPct val="0"/>
              </a:spcBef>
            </a:pPr>
            <a:r>
              <a:rPr lang="en-US" sz="2102">
                <a:solidFill>
                  <a:srgbClr val="FFFFFF"/>
                </a:solidFill>
                <a:latin typeface="Agrandir"/>
                <a:ea typeface="Agrandir"/>
                <a:cs typeface="Agrandir"/>
                <a:sym typeface="Agrandir"/>
              </a:rPr>
              <a:t>4 lados con giros de 90° que cierran la figura.</a:t>
            </a:r>
          </a:p>
        </p:txBody>
      </p:sp>
      <p:sp>
        <p:nvSpPr>
          <p:cNvPr name="TextBox 19" id="19"/>
          <p:cNvSpPr txBox="true"/>
          <p:nvPr/>
        </p:nvSpPr>
        <p:spPr>
          <a:xfrm rot="0">
            <a:off x="6814911" y="4054793"/>
            <a:ext cx="4445517" cy="439360"/>
          </a:xfrm>
          <a:prstGeom prst="rect">
            <a:avLst/>
          </a:prstGeom>
        </p:spPr>
        <p:txBody>
          <a:bodyPr anchor="t" rtlCol="false" tIns="0" lIns="0" bIns="0" rIns="0">
            <a:spAutoFit/>
          </a:bodyPr>
          <a:lstStyle/>
          <a:p>
            <a:pPr algn="ctr">
              <a:lnSpc>
                <a:spcPts val="3083"/>
              </a:lnSpc>
              <a:spcBef>
                <a:spcPct val="0"/>
              </a:spcBef>
            </a:pPr>
            <a:r>
              <a:rPr lang="en-US" b="true" sz="2202">
                <a:solidFill>
                  <a:srgbClr val="FFFFFF"/>
                </a:solidFill>
                <a:latin typeface="Agrandir Bold"/>
                <a:ea typeface="Agrandir Bold"/>
                <a:cs typeface="Agrandir Bold"/>
                <a:sym typeface="Agrandir Bold"/>
              </a:rPr>
              <a:t>2. Árbol con Ramas (ángulo 45°):</a:t>
            </a:r>
          </a:p>
        </p:txBody>
      </p:sp>
      <p:sp>
        <p:nvSpPr>
          <p:cNvPr name="TextBox 20" id="20"/>
          <p:cNvSpPr txBox="true"/>
          <p:nvPr/>
        </p:nvSpPr>
        <p:spPr>
          <a:xfrm rot="0">
            <a:off x="7929344" y="4617978"/>
            <a:ext cx="2429312" cy="422850"/>
          </a:xfrm>
          <a:prstGeom prst="rect">
            <a:avLst/>
          </a:prstGeom>
        </p:spPr>
        <p:txBody>
          <a:bodyPr anchor="t" rtlCol="false" tIns="0" lIns="0" bIns="0" rIns="0">
            <a:spAutoFit/>
          </a:bodyPr>
          <a:lstStyle/>
          <a:p>
            <a:pPr algn="just">
              <a:lnSpc>
                <a:spcPts val="2943"/>
              </a:lnSpc>
              <a:spcBef>
                <a:spcPct val="0"/>
              </a:spcBef>
            </a:pPr>
            <a:r>
              <a:rPr lang="en-US" sz="2102">
                <a:solidFill>
                  <a:srgbClr val="FFFFFF"/>
                </a:solidFill>
                <a:latin typeface="Agrandir"/>
                <a:ea typeface="Agrandir"/>
                <a:cs typeface="Agrandir"/>
                <a:sym typeface="Agrandir"/>
              </a:rPr>
              <a:t>D ⇒ a a g a t g a t</a:t>
            </a:r>
          </a:p>
        </p:txBody>
      </p:sp>
      <p:sp>
        <p:nvSpPr>
          <p:cNvPr name="TextBox 21" id="21"/>
          <p:cNvSpPr txBox="true"/>
          <p:nvPr/>
        </p:nvSpPr>
        <p:spPr>
          <a:xfrm rot="0">
            <a:off x="13080978" y="3361720"/>
            <a:ext cx="3856882" cy="1610935"/>
          </a:xfrm>
          <a:prstGeom prst="rect">
            <a:avLst/>
          </a:prstGeom>
        </p:spPr>
        <p:txBody>
          <a:bodyPr anchor="t" rtlCol="false" tIns="0" lIns="0" bIns="0" rIns="0">
            <a:spAutoFit/>
          </a:bodyPr>
          <a:lstStyle/>
          <a:p>
            <a:pPr algn="ctr">
              <a:lnSpc>
                <a:spcPts val="3083"/>
              </a:lnSpc>
              <a:spcBef>
                <a:spcPct val="0"/>
              </a:spcBef>
            </a:pPr>
            <a:r>
              <a:rPr lang="en-US" b="true" sz="2202">
                <a:solidFill>
                  <a:srgbClr val="FFFFFF"/>
                </a:solidFill>
                <a:latin typeface="Agrandir Bold"/>
                <a:ea typeface="Agrandir Bold"/>
                <a:cs typeface="Agrandir Bold"/>
                <a:sym typeface="Agrandir Bold"/>
              </a:rPr>
              <a:t>3. Cubo (proyección isométrica, ángulo 120°):</a:t>
            </a:r>
          </a:p>
          <a:p>
            <a:pPr algn="ctr">
              <a:lnSpc>
                <a:spcPts val="3083"/>
              </a:lnSpc>
              <a:spcBef>
                <a:spcPct val="0"/>
              </a:spcBef>
            </a:pPr>
          </a:p>
          <a:p>
            <a:pPr algn="ctr">
              <a:lnSpc>
                <a:spcPts val="3083"/>
              </a:lnSpc>
              <a:spcBef>
                <a:spcPct val="0"/>
              </a:spcBef>
            </a:pPr>
          </a:p>
        </p:txBody>
      </p:sp>
      <p:sp>
        <p:nvSpPr>
          <p:cNvPr name="TextBox 22" id="22"/>
          <p:cNvSpPr txBox="true"/>
          <p:nvPr/>
        </p:nvSpPr>
        <p:spPr>
          <a:xfrm rot="0">
            <a:off x="13370187" y="4389378"/>
            <a:ext cx="3889113" cy="794325"/>
          </a:xfrm>
          <a:prstGeom prst="rect">
            <a:avLst/>
          </a:prstGeom>
        </p:spPr>
        <p:txBody>
          <a:bodyPr anchor="t" rtlCol="false" tIns="0" lIns="0" bIns="0" rIns="0">
            <a:spAutoFit/>
          </a:bodyPr>
          <a:lstStyle/>
          <a:p>
            <a:pPr algn="just">
              <a:lnSpc>
                <a:spcPts val="2943"/>
              </a:lnSpc>
            </a:pPr>
            <a:r>
              <a:rPr lang="en-US" sz="2102">
                <a:solidFill>
                  <a:srgbClr val="FFFFFF"/>
                </a:solidFill>
                <a:latin typeface="Agrandir"/>
                <a:ea typeface="Agrandir"/>
                <a:cs typeface="Agrandir"/>
                <a:sym typeface="Agrandir"/>
              </a:rPr>
              <a:t>D ⇒ a c a c a c a c c c a c a c a c a</a:t>
            </a:r>
          </a:p>
          <a:p>
            <a:pPr algn="just">
              <a:lnSpc>
                <a:spcPts val="2943"/>
              </a:lnSpc>
              <a:spcBef>
                <a:spcPct val="0"/>
              </a:spcBef>
            </a:pPr>
          </a:p>
        </p:txBody>
      </p:sp>
      <p:sp>
        <p:nvSpPr>
          <p:cNvPr name="TextBox 23" id="23"/>
          <p:cNvSpPr txBox="true"/>
          <p:nvPr/>
        </p:nvSpPr>
        <p:spPr>
          <a:xfrm rot="0">
            <a:off x="12568726" y="8098114"/>
            <a:ext cx="4818628" cy="1165800"/>
          </a:xfrm>
          <a:prstGeom prst="rect">
            <a:avLst/>
          </a:prstGeom>
        </p:spPr>
        <p:txBody>
          <a:bodyPr anchor="t" rtlCol="false" tIns="0" lIns="0" bIns="0" rIns="0">
            <a:spAutoFit/>
          </a:bodyPr>
          <a:lstStyle/>
          <a:p>
            <a:pPr algn="ctr">
              <a:lnSpc>
                <a:spcPts val="2943"/>
              </a:lnSpc>
              <a:spcBef>
                <a:spcPct val="0"/>
              </a:spcBef>
            </a:pPr>
            <a:r>
              <a:rPr lang="en-US" sz="2102">
                <a:solidFill>
                  <a:srgbClr val="FFFFFF"/>
                </a:solidFill>
                <a:latin typeface="Agrandir"/>
                <a:ea typeface="Agrandir"/>
                <a:cs typeface="Agrandir"/>
                <a:sym typeface="Agrandir"/>
              </a:rPr>
              <a:t>Cuadrado base → cambio de plano → arista vertical → segundo cuadrado desplazado. Ilusión de cubo en 2D.</a:t>
            </a:r>
          </a:p>
        </p:txBody>
      </p:sp>
      <p:sp>
        <p:nvSpPr>
          <p:cNvPr name="TextBox 24" id="24"/>
          <p:cNvSpPr txBox="true"/>
          <p:nvPr/>
        </p:nvSpPr>
        <p:spPr>
          <a:xfrm rot="0">
            <a:off x="6827248" y="8167676"/>
            <a:ext cx="4633505" cy="1537275"/>
          </a:xfrm>
          <a:prstGeom prst="rect">
            <a:avLst/>
          </a:prstGeom>
        </p:spPr>
        <p:txBody>
          <a:bodyPr anchor="t" rtlCol="false" tIns="0" lIns="0" bIns="0" rIns="0">
            <a:spAutoFit/>
          </a:bodyPr>
          <a:lstStyle/>
          <a:p>
            <a:pPr algn="ctr">
              <a:lnSpc>
                <a:spcPts val="2943"/>
              </a:lnSpc>
              <a:spcBef>
                <a:spcPct val="0"/>
              </a:spcBef>
            </a:pPr>
            <a:r>
              <a:rPr lang="en-US" sz="2102">
                <a:solidFill>
                  <a:srgbClr val="FFFFFF"/>
                </a:solidFill>
                <a:latin typeface="Agrandir"/>
                <a:ea typeface="Agrandir"/>
                <a:cs typeface="Agrandir"/>
                <a:sym typeface="Agrandir"/>
              </a:rPr>
              <a:t>Tronco de 2 unidades, guarda estado, dibuja rama izquierda, recupera, dibuja rama derecha. Forma de "Y".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4262783" y="-2248785"/>
            <a:ext cx="5657850" cy="56578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33450" cap="sq">
              <a:gradFill>
                <a:gsLst>
                  <a:gs pos="0">
                    <a:srgbClr val="0078A8">
                      <a:alpha val="0"/>
                    </a:srgbClr>
                  </a:gs>
                  <a:gs pos="100000">
                    <a:srgbClr val="036E99">
                      <a:alpha val="630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829405" y="4193854"/>
            <a:ext cx="4025023" cy="4114800"/>
          </a:xfrm>
          <a:custGeom>
            <a:avLst/>
            <a:gdLst/>
            <a:ahLst/>
            <a:cxnLst/>
            <a:rect r="r" b="b" t="t" l="l"/>
            <a:pathLst>
              <a:path h="4114800" w="4025023">
                <a:moveTo>
                  <a:pt x="0" y="0"/>
                </a:moveTo>
                <a:lnTo>
                  <a:pt x="4025022" y="0"/>
                </a:lnTo>
                <a:lnTo>
                  <a:pt x="402502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04248" y="3030718"/>
            <a:ext cx="13338112" cy="2644395"/>
          </a:xfrm>
          <a:prstGeom prst="rect">
            <a:avLst/>
          </a:prstGeom>
        </p:spPr>
        <p:txBody>
          <a:bodyPr anchor="t" rtlCol="false" tIns="0" lIns="0" bIns="0" rIns="0">
            <a:spAutoFit/>
          </a:bodyPr>
          <a:lstStyle/>
          <a:p>
            <a:pPr algn="ctr">
              <a:lnSpc>
                <a:spcPts val="10695"/>
              </a:lnSpc>
              <a:spcBef>
                <a:spcPct val="0"/>
              </a:spcBef>
            </a:pPr>
            <a:r>
              <a:rPr lang="en-US" sz="7639">
                <a:solidFill>
                  <a:srgbClr val="FFFFFF"/>
                </a:solidFill>
                <a:latin typeface="Shrikhand"/>
                <a:ea typeface="Shrikhand"/>
                <a:cs typeface="Shrikhand"/>
                <a:sym typeface="Shrikhand"/>
              </a:rPr>
              <a:t>Higiene y Optimización de Gramáticas</a:t>
            </a:r>
          </a:p>
        </p:txBody>
      </p:sp>
      <p:sp>
        <p:nvSpPr>
          <p:cNvPr name="TextBox 8" id="8"/>
          <p:cNvSpPr txBox="true"/>
          <p:nvPr/>
        </p:nvSpPr>
        <p:spPr>
          <a:xfrm rot="0">
            <a:off x="2404248" y="5908860"/>
            <a:ext cx="11425156" cy="1255970"/>
          </a:xfrm>
          <a:prstGeom prst="rect">
            <a:avLst/>
          </a:prstGeom>
        </p:spPr>
        <p:txBody>
          <a:bodyPr anchor="t" rtlCol="false" tIns="0" lIns="0" bIns="0" rIns="0">
            <a:spAutoFit/>
          </a:bodyPr>
          <a:lstStyle/>
          <a:p>
            <a:pPr algn="just">
              <a:lnSpc>
                <a:spcPts val="3223"/>
              </a:lnSpc>
              <a:spcBef>
                <a:spcPct val="0"/>
              </a:spcBef>
            </a:pPr>
            <a:r>
              <a:rPr lang="en-US" sz="2302">
                <a:solidFill>
                  <a:srgbClr val="FFFFFF"/>
                </a:solidFill>
                <a:latin typeface="Agrandir"/>
                <a:ea typeface="Agrandir"/>
                <a:cs typeface="Agrandir"/>
                <a:sym typeface="Agrandir"/>
              </a:rPr>
              <a:t>Este apartado se centra en la aplicación de técnicas de optimización y limpieza (higiene) de gramáticas, fundamentales para garantizar la eficiencia en el modelado de figuras geométricas y estructuras biológicas tipo L-systems.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2080389" y="2378785"/>
            <a:ext cx="6536728" cy="953134"/>
          </a:xfrm>
          <a:prstGeom prst="rect">
            <a:avLst/>
          </a:prstGeom>
        </p:spPr>
        <p:txBody>
          <a:bodyPr anchor="t" rtlCol="false" tIns="0" lIns="0" bIns="0" rIns="0">
            <a:spAutoFit/>
          </a:bodyPr>
          <a:lstStyle/>
          <a:p>
            <a:pPr algn="just">
              <a:lnSpc>
                <a:spcPts val="7840"/>
              </a:lnSpc>
              <a:spcBef>
                <a:spcPct val="0"/>
              </a:spcBef>
            </a:pPr>
            <a:r>
              <a:rPr lang="en-US" sz="5600">
                <a:solidFill>
                  <a:srgbClr val="FFFFFF"/>
                </a:solidFill>
                <a:latin typeface="Shrikhand"/>
                <a:ea typeface="Shrikhand"/>
                <a:cs typeface="Shrikhand"/>
                <a:sym typeface="Shrikhand"/>
              </a:rPr>
              <a:t>Ambigüedad</a:t>
            </a:r>
          </a:p>
        </p:txBody>
      </p:sp>
      <p:grpSp>
        <p:nvGrpSpPr>
          <p:cNvPr name="Group 4" id="4"/>
          <p:cNvGrpSpPr/>
          <p:nvPr/>
        </p:nvGrpSpPr>
        <p:grpSpPr>
          <a:xfrm rot="0">
            <a:off x="8849582" y="1909745"/>
            <a:ext cx="7720733" cy="3585897"/>
            <a:chOff x="0" y="0"/>
            <a:chExt cx="1196144" cy="555549"/>
          </a:xfrm>
        </p:grpSpPr>
        <p:sp>
          <p:nvSpPr>
            <p:cNvPr name="Freeform 5" id="5"/>
            <p:cNvSpPr/>
            <p:nvPr/>
          </p:nvSpPr>
          <p:spPr>
            <a:xfrm flipH="false" flipV="false" rot="0">
              <a:off x="0" y="0"/>
              <a:ext cx="1196144" cy="555549"/>
            </a:xfrm>
            <a:custGeom>
              <a:avLst/>
              <a:gdLst/>
              <a:ahLst/>
              <a:cxnLst/>
              <a:rect r="r" b="b" t="t" l="l"/>
              <a:pathLst>
                <a:path h="555549" w="1196144">
                  <a:moveTo>
                    <a:pt x="23063" y="0"/>
                  </a:moveTo>
                  <a:lnTo>
                    <a:pt x="1173080" y="0"/>
                  </a:lnTo>
                  <a:cubicBezTo>
                    <a:pt x="1179197" y="0"/>
                    <a:pt x="1185063" y="2430"/>
                    <a:pt x="1189389" y="6755"/>
                  </a:cubicBezTo>
                  <a:cubicBezTo>
                    <a:pt x="1193714" y="11080"/>
                    <a:pt x="1196144" y="16946"/>
                    <a:pt x="1196144" y="23063"/>
                  </a:cubicBezTo>
                  <a:lnTo>
                    <a:pt x="1196144" y="532486"/>
                  </a:lnTo>
                  <a:cubicBezTo>
                    <a:pt x="1196144" y="545224"/>
                    <a:pt x="1185818" y="555549"/>
                    <a:pt x="1173080" y="555549"/>
                  </a:cubicBezTo>
                  <a:lnTo>
                    <a:pt x="23063" y="555549"/>
                  </a:lnTo>
                  <a:cubicBezTo>
                    <a:pt x="10326" y="555549"/>
                    <a:pt x="0" y="545224"/>
                    <a:pt x="0" y="532486"/>
                  </a:cubicBezTo>
                  <a:lnTo>
                    <a:pt x="0" y="23063"/>
                  </a:lnTo>
                  <a:cubicBezTo>
                    <a:pt x="0" y="10326"/>
                    <a:pt x="10326" y="0"/>
                    <a:pt x="23063" y="0"/>
                  </a:cubicBezTo>
                  <a:close/>
                </a:path>
              </a:pathLst>
            </a:custGeom>
            <a:blipFill>
              <a:blip r:embed="rId3"/>
              <a:stretch>
                <a:fillRect l="0" t="-57654" r="0" b="-57654"/>
              </a:stretch>
            </a:blipFill>
            <a:ln w="76200" cap="rnd">
              <a:gradFill>
                <a:gsLst>
                  <a:gs pos="0">
                    <a:srgbClr val="B4EAFF">
                      <a:alpha val="100000"/>
                    </a:srgbClr>
                  </a:gs>
                  <a:gs pos="100000">
                    <a:srgbClr val="0078A8">
                      <a:alpha val="0"/>
                    </a:srgbClr>
                  </a:gs>
                </a:gsLst>
                <a:lin ang="0"/>
              </a:gradFill>
              <a:prstDash val="solid"/>
              <a:round/>
            </a:ln>
          </p:spPr>
        </p:sp>
      </p:grpSp>
      <p:sp>
        <p:nvSpPr>
          <p:cNvPr name="TextBox 6" id="6"/>
          <p:cNvSpPr txBox="true"/>
          <p:nvPr/>
        </p:nvSpPr>
        <p:spPr>
          <a:xfrm rot="0">
            <a:off x="1283000" y="3539098"/>
            <a:ext cx="6718263" cy="1220410"/>
          </a:xfrm>
          <a:prstGeom prst="rect">
            <a:avLst/>
          </a:prstGeom>
        </p:spPr>
        <p:txBody>
          <a:bodyPr anchor="t" rtlCol="false" tIns="0" lIns="0" bIns="0" rIns="0">
            <a:spAutoFit/>
          </a:bodyPr>
          <a:lstStyle/>
          <a:p>
            <a:pPr algn="just">
              <a:lnSpc>
                <a:spcPts val="3083"/>
              </a:lnSpc>
              <a:spcBef>
                <a:spcPct val="0"/>
              </a:spcBef>
            </a:pPr>
            <a:r>
              <a:rPr lang="en-US" sz="2202">
                <a:solidFill>
                  <a:srgbClr val="FFFFFF"/>
                </a:solidFill>
                <a:latin typeface="Agrandir"/>
                <a:ea typeface="Agrandir"/>
                <a:cs typeface="Agrandir"/>
                <a:sym typeface="Agrandir"/>
              </a:rPr>
              <a:t>Una gramática es ambigua si una misma cadena puede generarse con dos o más árboles de derivación distintos.</a:t>
            </a:r>
          </a:p>
        </p:txBody>
      </p:sp>
      <p:sp>
        <p:nvSpPr>
          <p:cNvPr name="TextBox 7" id="7"/>
          <p:cNvSpPr txBox="true"/>
          <p:nvPr/>
        </p:nvSpPr>
        <p:spPr>
          <a:xfrm rot="0">
            <a:off x="1028700" y="4969058"/>
            <a:ext cx="6718263" cy="1165800"/>
          </a:xfrm>
          <a:prstGeom prst="rect">
            <a:avLst/>
          </a:prstGeom>
        </p:spPr>
        <p:txBody>
          <a:bodyPr anchor="t" rtlCol="false" tIns="0" lIns="0" bIns="0" rIns="0">
            <a:spAutoFit/>
          </a:bodyPr>
          <a:lstStyle/>
          <a:p>
            <a:pPr algn="just" marL="453898" indent="-226949" lvl="1">
              <a:lnSpc>
                <a:spcPts val="2943"/>
              </a:lnSpc>
              <a:buFont typeface="Arial"/>
              <a:buChar char="•"/>
            </a:pPr>
            <a:r>
              <a:rPr lang="en-US" sz="2102">
                <a:solidFill>
                  <a:srgbClr val="FFFFFF"/>
                </a:solidFill>
                <a:latin typeface="Agrandir"/>
                <a:ea typeface="Agrandir"/>
                <a:cs typeface="Agrandir"/>
                <a:sym typeface="Agrandir"/>
              </a:rPr>
              <a:t>Una misma cadena puede tener ≥2 árboles de derivación.</a:t>
            </a:r>
          </a:p>
          <a:p>
            <a:pPr algn="just">
              <a:lnSpc>
                <a:spcPts val="2943"/>
              </a:lnSpc>
              <a:spcBef>
                <a:spcPct val="0"/>
              </a:spcBef>
            </a:pPr>
          </a:p>
        </p:txBody>
      </p:sp>
      <p:grpSp>
        <p:nvGrpSpPr>
          <p:cNvPr name="Group 8" id="8"/>
          <p:cNvGrpSpPr/>
          <p:nvPr/>
        </p:nvGrpSpPr>
        <p:grpSpPr>
          <a:xfrm rot="0">
            <a:off x="-1758423" y="6842731"/>
            <a:ext cx="4831139" cy="48311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57225" cap="sq">
              <a:gradFill>
                <a:gsLst>
                  <a:gs pos="0">
                    <a:srgbClr val="B4EAFF">
                      <a:alpha val="63000"/>
                    </a:srgbClr>
                  </a:gs>
                  <a:gs pos="100000">
                    <a:srgbClr val="0078A8">
                      <a:alpha val="0"/>
                    </a:srgbClr>
                  </a:gs>
                </a:gsLst>
                <a:lin ang="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929275" y="6842731"/>
            <a:ext cx="3767970" cy="1672690"/>
            <a:chOff x="0" y="0"/>
            <a:chExt cx="992387" cy="440544"/>
          </a:xfrm>
        </p:grpSpPr>
        <p:sp>
          <p:nvSpPr>
            <p:cNvPr name="Freeform 12" id="12"/>
            <p:cNvSpPr/>
            <p:nvPr/>
          </p:nvSpPr>
          <p:spPr>
            <a:xfrm flipH="false" flipV="false" rot="0">
              <a:off x="0" y="0"/>
              <a:ext cx="992387" cy="440544"/>
            </a:xfrm>
            <a:custGeom>
              <a:avLst/>
              <a:gdLst/>
              <a:ahLst/>
              <a:cxnLst/>
              <a:rect r="r" b="b" t="t" l="l"/>
              <a:pathLst>
                <a:path h="440544" w="992387">
                  <a:moveTo>
                    <a:pt x="98624" y="0"/>
                  </a:moveTo>
                  <a:lnTo>
                    <a:pt x="893763" y="0"/>
                  </a:lnTo>
                  <a:cubicBezTo>
                    <a:pt x="948232" y="0"/>
                    <a:pt x="992387" y="44155"/>
                    <a:pt x="992387" y="98624"/>
                  </a:cubicBezTo>
                  <a:lnTo>
                    <a:pt x="992387" y="341920"/>
                  </a:lnTo>
                  <a:cubicBezTo>
                    <a:pt x="992387" y="368077"/>
                    <a:pt x="981996" y="393162"/>
                    <a:pt x="963501" y="411658"/>
                  </a:cubicBezTo>
                  <a:cubicBezTo>
                    <a:pt x="945005" y="430153"/>
                    <a:pt x="919920" y="440544"/>
                    <a:pt x="893763" y="440544"/>
                  </a:cubicBezTo>
                  <a:lnTo>
                    <a:pt x="98624" y="440544"/>
                  </a:lnTo>
                  <a:cubicBezTo>
                    <a:pt x="72467" y="440544"/>
                    <a:pt x="47382" y="430153"/>
                    <a:pt x="28886" y="411658"/>
                  </a:cubicBezTo>
                  <a:cubicBezTo>
                    <a:pt x="10391" y="393162"/>
                    <a:pt x="0" y="368077"/>
                    <a:pt x="0" y="341920"/>
                  </a:cubicBezTo>
                  <a:lnTo>
                    <a:pt x="0" y="98624"/>
                  </a:lnTo>
                  <a:cubicBezTo>
                    <a:pt x="0" y="72467"/>
                    <a:pt x="10391" y="47382"/>
                    <a:pt x="28886" y="28886"/>
                  </a:cubicBezTo>
                  <a:cubicBezTo>
                    <a:pt x="47382" y="10391"/>
                    <a:pt x="72467" y="0"/>
                    <a:pt x="98624"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13" id="13"/>
            <p:cNvSpPr txBox="true"/>
            <p:nvPr/>
          </p:nvSpPr>
          <p:spPr>
            <a:xfrm>
              <a:off x="0" y="-85725"/>
              <a:ext cx="992387" cy="526269"/>
            </a:xfrm>
            <a:prstGeom prst="rect">
              <a:avLst/>
            </a:prstGeom>
          </p:spPr>
          <p:txBody>
            <a:bodyPr anchor="ctr" rtlCol="false" tIns="50800" lIns="50800" bIns="50800" rIns="50800"/>
            <a:lstStyle/>
            <a:p>
              <a:pPr algn="ctr">
                <a:lnSpc>
                  <a:spcPts val="2663"/>
                </a:lnSpc>
              </a:pPr>
            </a:p>
          </p:txBody>
        </p:sp>
      </p:grpSp>
      <p:sp>
        <p:nvSpPr>
          <p:cNvPr name="TextBox 14" id="14"/>
          <p:cNvSpPr txBox="true"/>
          <p:nvPr/>
        </p:nvSpPr>
        <p:spPr>
          <a:xfrm rot="0">
            <a:off x="3338113" y="6204979"/>
            <a:ext cx="6718263" cy="462855"/>
          </a:xfrm>
          <a:prstGeom prst="rect">
            <a:avLst/>
          </a:prstGeom>
        </p:spPr>
        <p:txBody>
          <a:bodyPr anchor="t" rtlCol="false" tIns="0" lIns="0" bIns="0" rIns="0">
            <a:spAutoFit/>
          </a:bodyPr>
          <a:lstStyle/>
          <a:p>
            <a:pPr algn="just">
              <a:lnSpc>
                <a:spcPts val="3363"/>
              </a:lnSpc>
              <a:spcBef>
                <a:spcPct val="0"/>
              </a:spcBef>
            </a:pPr>
            <a:r>
              <a:rPr lang="en-US" b="true" sz="2402">
                <a:solidFill>
                  <a:srgbClr val="FFFFFF"/>
                </a:solidFill>
                <a:latin typeface="Agrandir Bold"/>
                <a:ea typeface="Agrandir Bold"/>
                <a:cs typeface="Agrandir Bold"/>
                <a:sym typeface="Agrandir Bold"/>
              </a:rPr>
              <a:t>Ejemplo clásico:</a:t>
            </a:r>
          </a:p>
        </p:txBody>
      </p:sp>
      <p:sp>
        <p:nvSpPr>
          <p:cNvPr name="TextBox 15" id="15"/>
          <p:cNvSpPr txBox="true"/>
          <p:nvPr/>
        </p:nvSpPr>
        <p:spPr>
          <a:xfrm rot="0">
            <a:off x="3338113" y="7426994"/>
            <a:ext cx="6718263" cy="462855"/>
          </a:xfrm>
          <a:prstGeom prst="rect">
            <a:avLst/>
          </a:prstGeom>
        </p:spPr>
        <p:txBody>
          <a:bodyPr anchor="t" rtlCol="false" tIns="0" lIns="0" bIns="0" rIns="0">
            <a:spAutoFit/>
          </a:bodyPr>
          <a:lstStyle/>
          <a:p>
            <a:pPr algn="just">
              <a:lnSpc>
                <a:spcPts val="3363"/>
              </a:lnSpc>
              <a:spcBef>
                <a:spcPct val="0"/>
              </a:spcBef>
            </a:pPr>
            <a:r>
              <a:rPr lang="en-US" sz="2402">
                <a:solidFill>
                  <a:srgbClr val="FFFFFF"/>
                </a:solidFill>
                <a:latin typeface="Agrandir"/>
                <a:ea typeface="Agrandir"/>
                <a:cs typeface="Agrandir"/>
                <a:sym typeface="Agrandir"/>
              </a:rPr>
              <a:t>E → E + E | E * E | num</a:t>
            </a:r>
          </a:p>
        </p:txBody>
      </p:sp>
      <p:sp>
        <p:nvSpPr>
          <p:cNvPr name="TextBox 16" id="16"/>
          <p:cNvSpPr txBox="true"/>
          <p:nvPr/>
        </p:nvSpPr>
        <p:spPr>
          <a:xfrm rot="0">
            <a:off x="7313098" y="6024601"/>
            <a:ext cx="4631118" cy="1192844"/>
          </a:xfrm>
          <a:prstGeom prst="rect">
            <a:avLst/>
          </a:prstGeom>
        </p:spPr>
        <p:txBody>
          <a:bodyPr anchor="t" rtlCol="false" tIns="0" lIns="0" bIns="0" rIns="0">
            <a:spAutoFit/>
          </a:bodyPr>
          <a:lstStyle/>
          <a:p>
            <a:pPr algn="ctr">
              <a:lnSpc>
                <a:spcPts val="3027"/>
              </a:lnSpc>
            </a:pPr>
            <a:r>
              <a:rPr lang="en-US" sz="2162" b="true">
                <a:solidFill>
                  <a:srgbClr val="FFFFFF"/>
                </a:solidFill>
                <a:latin typeface="Agrandir Bold"/>
                <a:ea typeface="Agrandir Bold"/>
                <a:cs typeface="Agrandir Bold"/>
                <a:sym typeface="Agrandir Bold"/>
              </a:rPr>
              <a:t>Corrección: </a:t>
            </a:r>
          </a:p>
          <a:p>
            <a:pPr algn="ctr">
              <a:lnSpc>
                <a:spcPts val="3027"/>
              </a:lnSpc>
              <a:spcBef>
                <a:spcPct val="0"/>
              </a:spcBef>
            </a:pPr>
            <a:r>
              <a:rPr lang="en-US" sz="2162">
                <a:solidFill>
                  <a:srgbClr val="FFFFFF"/>
                </a:solidFill>
                <a:latin typeface="Agrandir"/>
                <a:ea typeface="Agrandir"/>
                <a:cs typeface="Agrandir"/>
                <a:sym typeface="Agrandir"/>
              </a:rPr>
              <a:t>Jerarquía de operadores y reglas no ambiguas.</a:t>
            </a:r>
          </a:p>
        </p:txBody>
      </p:sp>
      <p:sp>
        <p:nvSpPr>
          <p:cNvPr name="Freeform 17" id="17"/>
          <p:cNvSpPr/>
          <p:nvPr/>
        </p:nvSpPr>
        <p:spPr>
          <a:xfrm flipH="false" flipV="false" rot="0">
            <a:off x="8617117" y="7442949"/>
            <a:ext cx="1666269" cy="1072471"/>
          </a:xfrm>
          <a:custGeom>
            <a:avLst/>
            <a:gdLst/>
            <a:ahLst/>
            <a:cxnLst/>
            <a:rect r="r" b="b" t="t" l="l"/>
            <a:pathLst>
              <a:path h="1072471" w="1666269">
                <a:moveTo>
                  <a:pt x="0" y="0"/>
                </a:moveTo>
                <a:lnTo>
                  <a:pt x="1666269" y="0"/>
                </a:lnTo>
                <a:lnTo>
                  <a:pt x="1666269" y="1072471"/>
                </a:lnTo>
                <a:lnTo>
                  <a:pt x="0" y="1072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12541899" y="6842731"/>
            <a:ext cx="3425715" cy="1672690"/>
            <a:chOff x="0" y="0"/>
            <a:chExt cx="902246" cy="440544"/>
          </a:xfrm>
        </p:grpSpPr>
        <p:sp>
          <p:nvSpPr>
            <p:cNvPr name="Freeform 19" id="19"/>
            <p:cNvSpPr/>
            <p:nvPr/>
          </p:nvSpPr>
          <p:spPr>
            <a:xfrm flipH="false" flipV="false" rot="0">
              <a:off x="0" y="0"/>
              <a:ext cx="902246" cy="440544"/>
            </a:xfrm>
            <a:custGeom>
              <a:avLst/>
              <a:gdLst/>
              <a:ahLst/>
              <a:cxnLst/>
              <a:rect r="r" b="b" t="t" l="l"/>
              <a:pathLst>
                <a:path h="440544" w="902246">
                  <a:moveTo>
                    <a:pt x="108477" y="0"/>
                  </a:moveTo>
                  <a:lnTo>
                    <a:pt x="793769" y="0"/>
                  </a:lnTo>
                  <a:cubicBezTo>
                    <a:pt x="853679" y="0"/>
                    <a:pt x="902246" y="48567"/>
                    <a:pt x="902246" y="108477"/>
                  </a:cubicBezTo>
                  <a:lnTo>
                    <a:pt x="902246" y="332067"/>
                  </a:lnTo>
                  <a:cubicBezTo>
                    <a:pt x="902246" y="391977"/>
                    <a:pt x="853679" y="440544"/>
                    <a:pt x="793769" y="440544"/>
                  </a:cubicBezTo>
                  <a:lnTo>
                    <a:pt x="108477" y="440544"/>
                  </a:lnTo>
                  <a:cubicBezTo>
                    <a:pt x="79707" y="440544"/>
                    <a:pt x="52116" y="429115"/>
                    <a:pt x="31772" y="408772"/>
                  </a:cubicBezTo>
                  <a:cubicBezTo>
                    <a:pt x="11429" y="388428"/>
                    <a:pt x="0" y="360837"/>
                    <a:pt x="0" y="332067"/>
                  </a:cubicBezTo>
                  <a:lnTo>
                    <a:pt x="0" y="108477"/>
                  </a:lnTo>
                  <a:cubicBezTo>
                    <a:pt x="0" y="48567"/>
                    <a:pt x="48567" y="0"/>
                    <a:pt x="108477"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20" id="20"/>
            <p:cNvSpPr txBox="true"/>
            <p:nvPr/>
          </p:nvSpPr>
          <p:spPr>
            <a:xfrm>
              <a:off x="0" y="-104775"/>
              <a:ext cx="902246" cy="545319"/>
            </a:xfrm>
            <a:prstGeom prst="rect">
              <a:avLst/>
            </a:prstGeom>
          </p:spPr>
          <p:txBody>
            <a:bodyPr anchor="ctr" rtlCol="false" tIns="50800" lIns="50800" bIns="50800" rIns="50800"/>
            <a:lstStyle/>
            <a:p>
              <a:pPr algn="ctr">
                <a:lnSpc>
                  <a:spcPts val="2943"/>
                </a:lnSpc>
              </a:pPr>
            </a:p>
            <a:p>
              <a:pPr algn="ctr">
                <a:lnSpc>
                  <a:spcPts val="2943"/>
                </a:lnSpc>
              </a:pPr>
            </a:p>
          </p:txBody>
        </p:sp>
      </p:grpSp>
      <p:sp>
        <p:nvSpPr>
          <p:cNvPr name="TextBox 21" id="21"/>
          <p:cNvSpPr txBox="true"/>
          <p:nvPr/>
        </p:nvSpPr>
        <p:spPr>
          <a:xfrm rot="0">
            <a:off x="12865969" y="7007894"/>
            <a:ext cx="2475716" cy="1301055"/>
          </a:xfrm>
          <a:prstGeom prst="rect">
            <a:avLst/>
          </a:prstGeom>
        </p:spPr>
        <p:txBody>
          <a:bodyPr anchor="t" rtlCol="false" tIns="0" lIns="0" bIns="0" rIns="0">
            <a:spAutoFit/>
          </a:bodyPr>
          <a:lstStyle/>
          <a:p>
            <a:pPr algn="ctr">
              <a:lnSpc>
                <a:spcPts val="3363"/>
              </a:lnSpc>
            </a:pPr>
            <a:r>
              <a:rPr lang="en-US" sz="2402">
                <a:solidFill>
                  <a:srgbClr val="FFFFFF"/>
                </a:solidFill>
                <a:latin typeface="Agrandir"/>
                <a:ea typeface="Agrandir"/>
                <a:cs typeface="Agrandir"/>
                <a:sym typeface="Agrandir"/>
              </a:rPr>
              <a:t>E → E + T | T</a:t>
            </a:r>
          </a:p>
          <a:p>
            <a:pPr algn="ctr">
              <a:lnSpc>
                <a:spcPts val="3363"/>
              </a:lnSpc>
            </a:pPr>
            <a:r>
              <a:rPr lang="en-US" sz="2402">
                <a:solidFill>
                  <a:srgbClr val="FFFFFF"/>
                </a:solidFill>
                <a:latin typeface="Agrandir"/>
                <a:ea typeface="Agrandir"/>
                <a:cs typeface="Agrandir"/>
                <a:sym typeface="Agrandir"/>
              </a:rPr>
              <a:t>T → T * F | F</a:t>
            </a:r>
          </a:p>
          <a:p>
            <a:pPr algn="ctr">
              <a:lnSpc>
                <a:spcPts val="3363"/>
              </a:lnSpc>
              <a:spcBef>
                <a:spcPct val="0"/>
              </a:spcBef>
            </a:pPr>
            <a:r>
              <a:rPr lang="en-US" sz="2402">
                <a:solidFill>
                  <a:srgbClr val="FFFFFF"/>
                </a:solidFill>
                <a:latin typeface="Agrandir"/>
                <a:ea typeface="Agrandir"/>
                <a:cs typeface="Agrandir"/>
                <a:sym typeface="Agrandir"/>
              </a:rPr>
              <a:t>F → num</a:t>
            </a:r>
          </a:p>
        </p:txBody>
      </p:sp>
      <p:sp>
        <p:nvSpPr>
          <p:cNvPr name="TextBox 22" id="22"/>
          <p:cNvSpPr txBox="true"/>
          <p:nvPr/>
        </p:nvSpPr>
        <p:spPr>
          <a:xfrm rot="0">
            <a:off x="11939198" y="8204175"/>
            <a:ext cx="4631118" cy="1573844"/>
          </a:xfrm>
          <a:prstGeom prst="rect">
            <a:avLst/>
          </a:prstGeom>
        </p:spPr>
        <p:txBody>
          <a:bodyPr anchor="t" rtlCol="false" tIns="0" lIns="0" bIns="0" rIns="0">
            <a:spAutoFit/>
          </a:bodyPr>
          <a:lstStyle/>
          <a:p>
            <a:pPr algn="ctr">
              <a:lnSpc>
                <a:spcPts val="3027"/>
              </a:lnSpc>
            </a:pPr>
          </a:p>
          <a:p>
            <a:pPr algn="ctr">
              <a:lnSpc>
                <a:spcPts val="3027"/>
              </a:lnSpc>
              <a:spcBef>
                <a:spcPct val="0"/>
              </a:spcBef>
            </a:pPr>
            <a:r>
              <a:rPr lang="en-US" sz="2162">
                <a:solidFill>
                  <a:srgbClr val="FFFFFF"/>
                </a:solidFill>
                <a:latin typeface="Agrandir"/>
                <a:ea typeface="Agrandir"/>
                <a:cs typeface="Agrandir"/>
                <a:sym typeface="Agrandir"/>
              </a:rPr>
              <a:t>Ahora la multiplicación tiene prioridad y la cadena tiene una única derivación válida.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886423" y="1733550"/>
            <a:ext cx="6819900" cy="68199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47675" cap="sq">
              <a:gradFill>
                <a:gsLst>
                  <a:gs pos="0">
                    <a:srgbClr val="036E99">
                      <a:alpha val="63000"/>
                    </a:srgbClr>
                  </a:gs>
                  <a:gs pos="100000">
                    <a:srgbClr val="FFFFFF">
                      <a:alpha val="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2219" y="1031015"/>
            <a:ext cx="9324873" cy="1943734"/>
          </a:xfrm>
          <a:prstGeom prst="rect">
            <a:avLst/>
          </a:prstGeom>
        </p:spPr>
        <p:txBody>
          <a:bodyPr anchor="t" rtlCol="false" tIns="0" lIns="0" bIns="0" rIns="0">
            <a:spAutoFit/>
          </a:bodyPr>
          <a:lstStyle/>
          <a:p>
            <a:pPr algn="ctr">
              <a:lnSpc>
                <a:spcPts val="7840"/>
              </a:lnSpc>
              <a:spcBef>
                <a:spcPct val="0"/>
              </a:spcBef>
            </a:pPr>
            <a:r>
              <a:rPr lang="en-US" sz="5600">
                <a:solidFill>
                  <a:srgbClr val="FFFFFF"/>
                </a:solidFill>
                <a:latin typeface="Shrikhand"/>
                <a:ea typeface="Shrikhand"/>
                <a:cs typeface="Shrikhand"/>
                <a:sym typeface="Shrikhand"/>
              </a:rPr>
              <a:t>Recursividad por la Izquierda</a:t>
            </a:r>
          </a:p>
        </p:txBody>
      </p:sp>
      <p:sp>
        <p:nvSpPr>
          <p:cNvPr name="TextBox 7" id="7"/>
          <p:cNvSpPr txBox="true"/>
          <p:nvPr/>
        </p:nvSpPr>
        <p:spPr>
          <a:xfrm rot="0">
            <a:off x="993659" y="4477372"/>
            <a:ext cx="6975808" cy="455870"/>
          </a:xfrm>
          <a:prstGeom prst="rect">
            <a:avLst/>
          </a:prstGeom>
        </p:spPr>
        <p:txBody>
          <a:bodyPr anchor="t" rtlCol="false" tIns="0" lIns="0" bIns="0" rIns="0">
            <a:spAutoFit/>
          </a:bodyPr>
          <a:lstStyle/>
          <a:p>
            <a:pPr algn="just">
              <a:lnSpc>
                <a:spcPts val="3223"/>
              </a:lnSpc>
              <a:spcBef>
                <a:spcPct val="0"/>
              </a:spcBef>
            </a:pPr>
            <a:r>
              <a:rPr lang="en-US" b="true" sz="2302">
                <a:solidFill>
                  <a:srgbClr val="FFFFFF"/>
                </a:solidFill>
                <a:latin typeface="Agrandir Bold"/>
                <a:ea typeface="Agrandir Bold"/>
                <a:cs typeface="Agrandir Bold"/>
                <a:sym typeface="Agrandir Bold"/>
              </a:rPr>
              <a:t>Problema:</a:t>
            </a:r>
          </a:p>
        </p:txBody>
      </p:sp>
      <p:sp>
        <p:nvSpPr>
          <p:cNvPr name="TextBox 8" id="8"/>
          <p:cNvSpPr txBox="true"/>
          <p:nvPr/>
        </p:nvSpPr>
        <p:spPr>
          <a:xfrm rot="0">
            <a:off x="1523527" y="5276142"/>
            <a:ext cx="4552107" cy="1610935"/>
          </a:xfrm>
          <a:prstGeom prst="rect">
            <a:avLst/>
          </a:prstGeom>
        </p:spPr>
        <p:txBody>
          <a:bodyPr anchor="t" rtlCol="false" tIns="0" lIns="0" bIns="0" rIns="0">
            <a:spAutoFit/>
          </a:bodyPr>
          <a:lstStyle/>
          <a:p>
            <a:pPr algn="l">
              <a:lnSpc>
                <a:spcPts val="3083"/>
              </a:lnSpc>
            </a:pPr>
            <a:r>
              <a:rPr lang="en-US" sz="2202">
                <a:solidFill>
                  <a:srgbClr val="FFFFFF"/>
                </a:solidFill>
                <a:latin typeface="Agrandir"/>
                <a:ea typeface="Agrandir"/>
                <a:cs typeface="Agrandir"/>
                <a:sym typeface="Agrandir"/>
              </a:rPr>
              <a:t>En analizadores sintácticos descendentes (predictivos), esto genera un bucle infinito: </a:t>
            </a:r>
          </a:p>
          <a:p>
            <a:pPr algn="l">
              <a:lnSpc>
                <a:spcPts val="3083"/>
              </a:lnSpc>
              <a:spcBef>
                <a:spcPct val="0"/>
              </a:spcBef>
            </a:pPr>
            <a:r>
              <a:rPr lang="en-US" sz="2202">
                <a:solidFill>
                  <a:srgbClr val="FFFFFF"/>
                </a:solidFill>
                <a:latin typeface="Agrandir"/>
                <a:ea typeface="Agrandir"/>
                <a:cs typeface="Agrandir"/>
                <a:sym typeface="Agrandir"/>
              </a:rPr>
              <a:t>A → A → A → ...</a:t>
            </a:r>
          </a:p>
        </p:txBody>
      </p:sp>
      <p:sp>
        <p:nvSpPr>
          <p:cNvPr name="TextBox 9" id="9"/>
          <p:cNvSpPr txBox="true"/>
          <p:nvPr/>
        </p:nvSpPr>
        <p:spPr>
          <a:xfrm rot="0">
            <a:off x="1028700" y="3314112"/>
            <a:ext cx="6975808" cy="829885"/>
          </a:xfrm>
          <a:prstGeom prst="rect">
            <a:avLst/>
          </a:prstGeom>
        </p:spPr>
        <p:txBody>
          <a:bodyPr anchor="t" rtlCol="false" tIns="0" lIns="0" bIns="0" rIns="0">
            <a:spAutoFit/>
          </a:bodyPr>
          <a:lstStyle/>
          <a:p>
            <a:pPr algn="ctr">
              <a:lnSpc>
                <a:spcPts val="3083"/>
              </a:lnSpc>
              <a:spcBef>
                <a:spcPct val="0"/>
              </a:spcBef>
            </a:pPr>
            <a:r>
              <a:rPr lang="en-US" sz="2202">
                <a:solidFill>
                  <a:srgbClr val="FFFFFF"/>
                </a:solidFill>
                <a:latin typeface="Agrandir"/>
                <a:ea typeface="Agrandir"/>
                <a:cs typeface="Agrandir"/>
                <a:sym typeface="Agrandir"/>
              </a:rPr>
              <a:t>Una regla de la forma A → Aα | β donde A se llama a sí misma como primer símbolo.</a:t>
            </a:r>
          </a:p>
        </p:txBody>
      </p:sp>
      <p:sp>
        <p:nvSpPr>
          <p:cNvPr name="TextBox 10" id="10"/>
          <p:cNvSpPr txBox="true"/>
          <p:nvPr/>
        </p:nvSpPr>
        <p:spPr>
          <a:xfrm rot="0">
            <a:off x="12094344" y="596295"/>
            <a:ext cx="6975808" cy="498415"/>
          </a:xfrm>
          <a:prstGeom prst="rect">
            <a:avLst/>
          </a:prstGeom>
        </p:spPr>
        <p:txBody>
          <a:bodyPr anchor="t" rtlCol="false" tIns="0" lIns="0" bIns="0" rIns="0">
            <a:spAutoFit/>
          </a:bodyPr>
          <a:lstStyle/>
          <a:p>
            <a:pPr algn="l">
              <a:lnSpc>
                <a:spcPts val="3503"/>
              </a:lnSpc>
              <a:spcBef>
                <a:spcPct val="0"/>
              </a:spcBef>
            </a:pPr>
            <a:r>
              <a:rPr lang="en-US" sz="2502" b="true">
                <a:solidFill>
                  <a:srgbClr val="FFFFFF"/>
                </a:solidFill>
                <a:latin typeface="Agrandir Bold"/>
                <a:ea typeface="Agrandir Bold"/>
                <a:cs typeface="Agrandir Bold"/>
                <a:sym typeface="Agrandir Bold"/>
              </a:rPr>
              <a:t>Ejemplo:</a:t>
            </a:r>
          </a:p>
        </p:txBody>
      </p:sp>
      <p:sp>
        <p:nvSpPr>
          <p:cNvPr name="TextBox 11" id="11"/>
          <p:cNvSpPr txBox="true"/>
          <p:nvPr/>
        </p:nvSpPr>
        <p:spPr>
          <a:xfrm rot="0">
            <a:off x="14057885" y="1594663"/>
            <a:ext cx="1524364" cy="455870"/>
          </a:xfrm>
          <a:prstGeom prst="rect">
            <a:avLst/>
          </a:prstGeom>
        </p:spPr>
        <p:txBody>
          <a:bodyPr anchor="t" rtlCol="false" tIns="0" lIns="0" bIns="0" rIns="0">
            <a:spAutoFit/>
          </a:bodyPr>
          <a:lstStyle/>
          <a:p>
            <a:pPr algn="l">
              <a:lnSpc>
                <a:spcPts val="3223"/>
              </a:lnSpc>
              <a:spcBef>
                <a:spcPct val="0"/>
              </a:spcBef>
            </a:pPr>
            <a:r>
              <a:rPr lang="en-US" sz="2302">
                <a:solidFill>
                  <a:srgbClr val="FFFFFF"/>
                </a:solidFill>
                <a:latin typeface="Agrandir"/>
                <a:ea typeface="Agrandir"/>
                <a:cs typeface="Agrandir"/>
                <a:sym typeface="Agrandir"/>
              </a:rPr>
              <a:t>A → Aa | b</a:t>
            </a:r>
          </a:p>
        </p:txBody>
      </p:sp>
      <p:sp>
        <p:nvSpPr>
          <p:cNvPr name="TextBox 12" id="12"/>
          <p:cNvSpPr txBox="true"/>
          <p:nvPr/>
        </p:nvSpPr>
        <p:spPr>
          <a:xfrm rot="0">
            <a:off x="9912358" y="2953492"/>
            <a:ext cx="6975808" cy="498415"/>
          </a:xfrm>
          <a:prstGeom prst="rect">
            <a:avLst/>
          </a:prstGeom>
        </p:spPr>
        <p:txBody>
          <a:bodyPr anchor="t" rtlCol="false" tIns="0" lIns="0" bIns="0" rIns="0">
            <a:spAutoFit/>
          </a:bodyPr>
          <a:lstStyle/>
          <a:p>
            <a:pPr algn="l">
              <a:lnSpc>
                <a:spcPts val="3503"/>
              </a:lnSpc>
              <a:spcBef>
                <a:spcPct val="0"/>
              </a:spcBef>
            </a:pPr>
            <a:r>
              <a:rPr lang="en-US" sz="2502" b="true">
                <a:solidFill>
                  <a:srgbClr val="FFFFFF"/>
                </a:solidFill>
                <a:latin typeface="Agrandir Bold"/>
                <a:ea typeface="Agrandir Bold"/>
                <a:cs typeface="Agrandir Bold"/>
                <a:sym typeface="Agrandir Bold"/>
              </a:rPr>
              <a:t>Algoritmo de eliminación (paso a paso):</a:t>
            </a:r>
          </a:p>
        </p:txBody>
      </p:sp>
      <p:sp>
        <p:nvSpPr>
          <p:cNvPr name="TextBox 13" id="13"/>
          <p:cNvSpPr txBox="true"/>
          <p:nvPr/>
        </p:nvSpPr>
        <p:spPr>
          <a:xfrm rot="0">
            <a:off x="9292655" y="3514838"/>
            <a:ext cx="6975808" cy="455870"/>
          </a:xfrm>
          <a:prstGeom prst="rect">
            <a:avLst/>
          </a:prstGeom>
        </p:spPr>
        <p:txBody>
          <a:bodyPr anchor="t" rtlCol="false" tIns="0" lIns="0" bIns="0" rIns="0">
            <a:spAutoFit/>
          </a:bodyPr>
          <a:lstStyle/>
          <a:p>
            <a:pPr algn="l" marL="497077" indent="-248539" lvl="1">
              <a:lnSpc>
                <a:spcPts val="3223"/>
              </a:lnSpc>
              <a:spcBef>
                <a:spcPct val="0"/>
              </a:spcBef>
              <a:buAutoNum type="arabicPeriod" startAt="1"/>
            </a:pPr>
            <a:r>
              <a:rPr lang="en-US" sz="2302">
                <a:solidFill>
                  <a:srgbClr val="FFFFFF"/>
                </a:solidFill>
                <a:latin typeface="Agrandir"/>
                <a:ea typeface="Agrandir"/>
                <a:cs typeface="Agrandir"/>
                <a:sym typeface="Agrandir"/>
              </a:rPr>
              <a:t>Identificar la regla recursiva por izquierda.</a:t>
            </a:r>
          </a:p>
        </p:txBody>
      </p:sp>
      <p:sp>
        <p:nvSpPr>
          <p:cNvPr name="TextBox 14" id="14"/>
          <p:cNvSpPr txBox="true"/>
          <p:nvPr/>
        </p:nvSpPr>
        <p:spPr>
          <a:xfrm rot="0">
            <a:off x="9144000" y="4065958"/>
            <a:ext cx="6975808" cy="455870"/>
          </a:xfrm>
          <a:prstGeom prst="rect">
            <a:avLst/>
          </a:prstGeom>
        </p:spPr>
        <p:txBody>
          <a:bodyPr anchor="t" rtlCol="false" tIns="0" lIns="0" bIns="0" rIns="0">
            <a:spAutoFit/>
          </a:bodyPr>
          <a:lstStyle/>
          <a:p>
            <a:pPr algn="l">
              <a:lnSpc>
                <a:spcPts val="3223"/>
              </a:lnSpc>
              <a:spcBef>
                <a:spcPct val="0"/>
              </a:spcBef>
            </a:pPr>
            <a:r>
              <a:rPr lang="en-US" sz="2302">
                <a:solidFill>
                  <a:srgbClr val="FFFFFF"/>
                </a:solidFill>
                <a:latin typeface="Agrandir"/>
                <a:ea typeface="Agrandir"/>
                <a:cs typeface="Agrandir"/>
                <a:sym typeface="Agrandir"/>
              </a:rPr>
              <a:t>2.Reescribir como:</a:t>
            </a:r>
          </a:p>
        </p:txBody>
      </p:sp>
      <p:sp>
        <p:nvSpPr>
          <p:cNvPr name="TextBox 15" id="15"/>
          <p:cNvSpPr txBox="true"/>
          <p:nvPr/>
        </p:nvSpPr>
        <p:spPr>
          <a:xfrm rot="0">
            <a:off x="11269240" y="5106662"/>
            <a:ext cx="1963540" cy="855920"/>
          </a:xfrm>
          <a:prstGeom prst="rect">
            <a:avLst/>
          </a:prstGeom>
        </p:spPr>
        <p:txBody>
          <a:bodyPr anchor="t" rtlCol="false" tIns="0" lIns="0" bIns="0" rIns="0">
            <a:spAutoFit/>
          </a:bodyPr>
          <a:lstStyle/>
          <a:p>
            <a:pPr algn="ctr">
              <a:lnSpc>
                <a:spcPts val="3223"/>
              </a:lnSpc>
            </a:pPr>
            <a:r>
              <a:rPr lang="en-US" b="true" sz="2302">
                <a:solidFill>
                  <a:srgbClr val="FFFFFF"/>
                </a:solidFill>
                <a:latin typeface="Agrandir Bold"/>
                <a:ea typeface="Agrandir Bold"/>
                <a:cs typeface="Agrandir Bold"/>
                <a:sym typeface="Agrandir Bold"/>
              </a:rPr>
              <a:t>A → βA'</a:t>
            </a:r>
          </a:p>
          <a:p>
            <a:pPr algn="ctr">
              <a:lnSpc>
                <a:spcPts val="3223"/>
              </a:lnSpc>
            </a:pPr>
            <a:r>
              <a:rPr lang="en-US" b="true" sz="2302">
                <a:solidFill>
                  <a:srgbClr val="FFFFFF"/>
                </a:solidFill>
                <a:latin typeface="Agrandir Bold"/>
                <a:ea typeface="Agrandir Bold"/>
                <a:cs typeface="Agrandir Bold"/>
                <a:sym typeface="Agrandir Bold"/>
              </a:rPr>
              <a:t>A' → αA' | ε</a:t>
            </a:r>
          </a:p>
        </p:txBody>
      </p:sp>
      <p:sp>
        <p:nvSpPr>
          <p:cNvPr name="TextBox 16" id="16"/>
          <p:cNvSpPr txBox="true"/>
          <p:nvPr/>
        </p:nvSpPr>
        <p:spPr>
          <a:xfrm rot="0">
            <a:off x="6864039" y="6172370"/>
            <a:ext cx="6975808" cy="498415"/>
          </a:xfrm>
          <a:prstGeom prst="rect">
            <a:avLst/>
          </a:prstGeom>
        </p:spPr>
        <p:txBody>
          <a:bodyPr anchor="t" rtlCol="false" tIns="0" lIns="0" bIns="0" rIns="0">
            <a:spAutoFit/>
          </a:bodyPr>
          <a:lstStyle/>
          <a:p>
            <a:pPr algn="l">
              <a:lnSpc>
                <a:spcPts val="3503"/>
              </a:lnSpc>
            </a:pPr>
            <a:r>
              <a:rPr lang="en-US" sz="2502" b="true">
                <a:solidFill>
                  <a:srgbClr val="FFFFFF"/>
                </a:solidFill>
                <a:latin typeface="Agrandir Bold"/>
                <a:ea typeface="Agrandir Bold"/>
                <a:cs typeface="Agrandir Bold"/>
                <a:sym typeface="Agrandir Bold"/>
              </a:rPr>
              <a:t>Corrección aplicada:</a:t>
            </a:r>
          </a:p>
        </p:txBody>
      </p:sp>
      <p:sp>
        <p:nvSpPr>
          <p:cNvPr name="TextBox 17" id="17"/>
          <p:cNvSpPr txBox="true"/>
          <p:nvPr/>
        </p:nvSpPr>
        <p:spPr>
          <a:xfrm rot="0">
            <a:off x="8427368" y="7209488"/>
            <a:ext cx="2536916" cy="455870"/>
          </a:xfrm>
          <a:prstGeom prst="rect">
            <a:avLst/>
          </a:prstGeom>
        </p:spPr>
        <p:txBody>
          <a:bodyPr anchor="t" rtlCol="false" tIns="0" lIns="0" bIns="0" rIns="0">
            <a:spAutoFit/>
          </a:bodyPr>
          <a:lstStyle/>
          <a:p>
            <a:pPr algn="ctr">
              <a:lnSpc>
                <a:spcPts val="3223"/>
              </a:lnSpc>
            </a:pPr>
            <a:r>
              <a:rPr lang="en-US" sz="2302">
                <a:solidFill>
                  <a:srgbClr val="FFFFFF"/>
                </a:solidFill>
                <a:latin typeface="Agrandir"/>
                <a:ea typeface="Agrandir"/>
                <a:cs typeface="Agrandir"/>
                <a:sym typeface="Agrandir"/>
              </a:rPr>
              <a:t>A → bA'A' → aA' | ε</a:t>
            </a:r>
          </a:p>
        </p:txBody>
      </p:sp>
      <p:sp>
        <p:nvSpPr>
          <p:cNvPr name="TextBox 18" id="18"/>
          <p:cNvSpPr txBox="true"/>
          <p:nvPr/>
        </p:nvSpPr>
        <p:spPr>
          <a:xfrm rot="0">
            <a:off x="6939055" y="8318043"/>
            <a:ext cx="5513541" cy="855920"/>
          </a:xfrm>
          <a:prstGeom prst="rect">
            <a:avLst/>
          </a:prstGeom>
        </p:spPr>
        <p:txBody>
          <a:bodyPr anchor="t" rtlCol="false" tIns="0" lIns="0" bIns="0" rIns="0">
            <a:spAutoFit/>
          </a:bodyPr>
          <a:lstStyle/>
          <a:p>
            <a:pPr algn="ctr">
              <a:lnSpc>
                <a:spcPts val="3223"/>
              </a:lnSpc>
            </a:pPr>
            <a:r>
              <a:rPr lang="en-US" sz="2302">
                <a:solidFill>
                  <a:srgbClr val="FFFFFF"/>
                </a:solidFill>
                <a:latin typeface="Agrandir"/>
                <a:ea typeface="Agrandir"/>
                <a:cs typeface="Agrandir"/>
                <a:sym typeface="Agrandir"/>
              </a:rPr>
              <a:t>La recursión ahora es derecha, controlable y no infinita.</a:t>
            </a:r>
          </a:p>
        </p:txBody>
      </p:sp>
      <p:grpSp>
        <p:nvGrpSpPr>
          <p:cNvPr name="Group 19" id="19"/>
          <p:cNvGrpSpPr/>
          <p:nvPr/>
        </p:nvGrpSpPr>
        <p:grpSpPr>
          <a:xfrm rot="0">
            <a:off x="1263524" y="5143500"/>
            <a:ext cx="4765965" cy="1917097"/>
            <a:chOff x="0" y="0"/>
            <a:chExt cx="1255233" cy="504914"/>
          </a:xfrm>
        </p:grpSpPr>
        <p:sp>
          <p:nvSpPr>
            <p:cNvPr name="Freeform 20" id="20"/>
            <p:cNvSpPr/>
            <p:nvPr/>
          </p:nvSpPr>
          <p:spPr>
            <a:xfrm flipH="false" flipV="false" rot="0">
              <a:off x="0" y="0"/>
              <a:ext cx="1255233" cy="504914"/>
            </a:xfrm>
            <a:custGeom>
              <a:avLst/>
              <a:gdLst/>
              <a:ahLst/>
              <a:cxnLst/>
              <a:rect r="r" b="b" t="t" l="l"/>
              <a:pathLst>
                <a:path h="504914" w="1255233">
                  <a:moveTo>
                    <a:pt x="77972" y="0"/>
                  </a:moveTo>
                  <a:lnTo>
                    <a:pt x="1177261" y="0"/>
                  </a:lnTo>
                  <a:cubicBezTo>
                    <a:pt x="1220324" y="0"/>
                    <a:pt x="1255233" y="34909"/>
                    <a:pt x="1255233" y="77972"/>
                  </a:cubicBezTo>
                  <a:lnTo>
                    <a:pt x="1255233" y="426942"/>
                  </a:lnTo>
                  <a:cubicBezTo>
                    <a:pt x="1255233" y="447622"/>
                    <a:pt x="1247019" y="467454"/>
                    <a:pt x="1232396" y="482077"/>
                  </a:cubicBezTo>
                  <a:cubicBezTo>
                    <a:pt x="1217773" y="496699"/>
                    <a:pt x="1197941" y="504914"/>
                    <a:pt x="1177261" y="504914"/>
                  </a:cubicBezTo>
                  <a:lnTo>
                    <a:pt x="77972" y="504914"/>
                  </a:lnTo>
                  <a:cubicBezTo>
                    <a:pt x="34909" y="504914"/>
                    <a:pt x="0" y="470005"/>
                    <a:pt x="0" y="426942"/>
                  </a:cubicBezTo>
                  <a:lnTo>
                    <a:pt x="0" y="77972"/>
                  </a:lnTo>
                  <a:cubicBezTo>
                    <a:pt x="0" y="57293"/>
                    <a:pt x="8215" y="37460"/>
                    <a:pt x="22837" y="22837"/>
                  </a:cubicBezTo>
                  <a:cubicBezTo>
                    <a:pt x="37460" y="8215"/>
                    <a:pt x="57293" y="0"/>
                    <a:pt x="77972"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21" id="21"/>
            <p:cNvSpPr txBox="true"/>
            <p:nvPr/>
          </p:nvSpPr>
          <p:spPr>
            <a:xfrm>
              <a:off x="0" y="-85725"/>
              <a:ext cx="1255233" cy="590639"/>
            </a:xfrm>
            <a:prstGeom prst="rect">
              <a:avLst/>
            </a:prstGeom>
          </p:spPr>
          <p:txBody>
            <a:bodyPr anchor="ctr" rtlCol="false" tIns="50800" lIns="50800" bIns="50800" rIns="50800"/>
            <a:lstStyle/>
            <a:p>
              <a:pPr algn="ctr">
                <a:lnSpc>
                  <a:spcPts val="2663"/>
                </a:lnSpc>
              </a:pPr>
            </a:p>
          </p:txBody>
        </p:sp>
      </p:grpSp>
      <p:grpSp>
        <p:nvGrpSpPr>
          <p:cNvPr name="Group 22" id="22"/>
          <p:cNvGrpSpPr/>
          <p:nvPr/>
        </p:nvGrpSpPr>
        <p:grpSpPr>
          <a:xfrm rot="0">
            <a:off x="13204946" y="1199485"/>
            <a:ext cx="3230242" cy="1360526"/>
            <a:chOff x="0" y="0"/>
            <a:chExt cx="850763" cy="358328"/>
          </a:xfrm>
        </p:grpSpPr>
        <p:sp>
          <p:nvSpPr>
            <p:cNvPr name="Freeform 23" id="23"/>
            <p:cNvSpPr/>
            <p:nvPr/>
          </p:nvSpPr>
          <p:spPr>
            <a:xfrm flipH="false" flipV="false" rot="0">
              <a:off x="0" y="0"/>
              <a:ext cx="850763" cy="358328"/>
            </a:xfrm>
            <a:custGeom>
              <a:avLst/>
              <a:gdLst/>
              <a:ahLst/>
              <a:cxnLst/>
              <a:rect r="r" b="b" t="t" l="l"/>
              <a:pathLst>
                <a:path h="358328" w="850763">
                  <a:moveTo>
                    <a:pt x="115042" y="0"/>
                  </a:moveTo>
                  <a:lnTo>
                    <a:pt x="735722" y="0"/>
                  </a:lnTo>
                  <a:cubicBezTo>
                    <a:pt x="799257" y="0"/>
                    <a:pt x="850763" y="51506"/>
                    <a:pt x="850763" y="115042"/>
                  </a:cubicBezTo>
                  <a:lnTo>
                    <a:pt x="850763" y="243286"/>
                  </a:lnTo>
                  <a:cubicBezTo>
                    <a:pt x="850763" y="273797"/>
                    <a:pt x="838643" y="303058"/>
                    <a:pt x="817068" y="324633"/>
                  </a:cubicBezTo>
                  <a:cubicBezTo>
                    <a:pt x="795494" y="346207"/>
                    <a:pt x="766233" y="358328"/>
                    <a:pt x="735722" y="358328"/>
                  </a:cubicBezTo>
                  <a:lnTo>
                    <a:pt x="115042" y="358328"/>
                  </a:lnTo>
                  <a:cubicBezTo>
                    <a:pt x="51506" y="358328"/>
                    <a:pt x="0" y="306822"/>
                    <a:pt x="0" y="243286"/>
                  </a:cubicBezTo>
                  <a:lnTo>
                    <a:pt x="0" y="115042"/>
                  </a:lnTo>
                  <a:cubicBezTo>
                    <a:pt x="0" y="84531"/>
                    <a:pt x="12120" y="55269"/>
                    <a:pt x="33695" y="33695"/>
                  </a:cubicBezTo>
                  <a:cubicBezTo>
                    <a:pt x="55269" y="12120"/>
                    <a:pt x="84531" y="0"/>
                    <a:pt x="115042"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24" id="24"/>
            <p:cNvSpPr txBox="true"/>
            <p:nvPr/>
          </p:nvSpPr>
          <p:spPr>
            <a:xfrm>
              <a:off x="0" y="-85725"/>
              <a:ext cx="850763" cy="444053"/>
            </a:xfrm>
            <a:prstGeom prst="rect">
              <a:avLst/>
            </a:prstGeom>
          </p:spPr>
          <p:txBody>
            <a:bodyPr anchor="ctr" rtlCol="false" tIns="50800" lIns="50800" bIns="50800" rIns="50800"/>
            <a:lstStyle/>
            <a:p>
              <a:pPr algn="ctr">
                <a:lnSpc>
                  <a:spcPts val="2663"/>
                </a:lnSpc>
              </a:pPr>
            </a:p>
          </p:txBody>
        </p:sp>
      </p:grpSp>
      <p:grpSp>
        <p:nvGrpSpPr>
          <p:cNvPr name="Group 25" id="25"/>
          <p:cNvGrpSpPr/>
          <p:nvPr/>
        </p:nvGrpSpPr>
        <p:grpSpPr>
          <a:xfrm rot="0">
            <a:off x="10827643" y="4868994"/>
            <a:ext cx="3230242" cy="1360526"/>
            <a:chOff x="0" y="0"/>
            <a:chExt cx="850763" cy="358328"/>
          </a:xfrm>
        </p:grpSpPr>
        <p:sp>
          <p:nvSpPr>
            <p:cNvPr name="Freeform 26" id="26"/>
            <p:cNvSpPr/>
            <p:nvPr/>
          </p:nvSpPr>
          <p:spPr>
            <a:xfrm flipH="false" flipV="false" rot="0">
              <a:off x="0" y="0"/>
              <a:ext cx="850763" cy="358328"/>
            </a:xfrm>
            <a:custGeom>
              <a:avLst/>
              <a:gdLst/>
              <a:ahLst/>
              <a:cxnLst/>
              <a:rect r="r" b="b" t="t" l="l"/>
              <a:pathLst>
                <a:path h="358328" w="850763">
                  <a:moveTo>
                    <a:pt x="115042" y="0"/>
                  </a:moveTo>
                  <a:lnTo>
                    <a:pt x="735722" y="0"/>
                  </a:lnTo>
                  <a:cubicBezTo>
                    <a:pt x="799257" y="0"/>
                    <a:pt x="850763" y="51506"/>
                    <a:pt x="850763" y="115042"/>
                  </a:cubicBezTo>
                  <a:lnTo>
                    <a:pt x="850763" y="243286"/>
                  </a:lnTo>
                  <a:cubicBezTo>
                    <a:pt x="850763" y="273797"/>
                    <a:pt x="838643" y="303058"/>
                    <a:pt x="817068" y="324633"/>
                  </a:cubicBezTo>
                  <a:cubicBezTo>
                    <a:pt x="795494" y="346207"/>
                    <a:pt x="766233" y="358328"/>
                    <a:pt x="735722" y="358328"/>
                  </a:cubicBezTo>
                  <a:lnTo>
                    <a:pt x="115042" y="358328"/>
                  </a:lnTo>
                  <a:cubicBezTo>
                    <a:pt x="51506" y="358328"/>
                    <a:pt x="0" y="306822"/>
                    <a:pt x="0" y="243286"/>
                  </a:cubicBezTo>
                  <a:lnTo>
                    <a:pt x="0" y="115042"/>
                  </a:lnTo>
                  <a:cubicBezTo>
                    <a:pt x="0" y="84531"/>
                    <a:pt x="12120" y="55269"/>
                    <a:pt x="33695" y="33695"/>
                  </a:cubicBezTo>
                  <a:cubicBezTo>
                    <a:pt x="55269" y="12120"/>
                    <a:pt x="84531" y="0"/>
                    <a:pt x="115042"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27" id="27"/>
            <p:cNvSpPr txBox="true"/>
            <p:nvPr/>
          </p:nvSpPr>
          <p:spPr>
            <a:xfrm>
              <a:off x="0" y="-85725"/>
              <a:ext cx="850763" cy="444053"/>
            </a:xfrm>
            <a:prstGeom prst="rect">
              <a:avLst/>
            </a:prstGeom>
          </p:spPr>
          <p:txBody>
            <a:bodyPr anchor="ctr" rtlCol="false" tIns="50800" lIns="50800" bIns="50800" rIns="50800"/>
            <a:lstStyle/>
            <a:p>
              <a:pPr algn="ctr">
                <a:lnSpc>
                  <a:spcPts val="2663"/>
                </a:lnSpc>
              </a:pPr>
            </a:p>
          </p:txBody>
        </p:sp>
      </p:grpSp>
      <p:grpSp>
        <p:nvGrpSpPr>
          <p:cNvPr name="Group 28" id="28"/>
          <p:cNvGrpSpPr/>
          <p:nvPr/>
        </p:nvGrpSpPr>
        <p:grpSpPr>
          <a:xfrm rot="0">
            <a:off x="8197322" y="6899703"/>
            <a:ext cx="2997006" cy="1189740"/>
            <a:chOff x="0" y="0"/>
            <a:chExt cx="789335" cy="313347"/>
          </a:xfrm>
        </p:grpSpPr>
        <p:sp>
          <p:nvSpPr>
            <p:cNvPr name="Freeform 29" id="29"/>
            <p:cNvSpPr/>
            <p:nvPr/>
          </p:nvSpPr>
          <p:spPr>
            <a:xfrm flipH="false" flipV="false" rot="0">
              <a:off x="0" y="0"/>
              <a:ext cx="789335" cy="313347"/>
            </a:xfrm>
            <a:custGeom>
              <a:avLst/>
              <a:gdLst/>
              <a:ahLst/>
              <a:cxnLst/>
              <a:rect r="r" b="b" t="t" l="l"/>
              <a:pathLst>
                <a:path h="313347" w="789335">
                  <a:moveTo>
                    <a:pt x="123994" y="0"/>
                  </a:moveTo>
                  <a:lnTo>
                    <a:pt x="665340" y="0"/>
                  </a:lnTo>
                  <a:cubicBezTo>
                    <a:pt x="698226" y="0"/>
                    <a:pt x="729764" y="13064"/>
                    <a:pt x="753018" y="36317"/>
                  </a:cubicBezTo>
                  <a:cubicBezTo>
                    <a:pt x="776271" y="59571"/>
                    <a:pt x="789335" y="91109"/>
                    <a:pt x="789335" y="123994"/>
                  </a:cubicBezTo>
                  <a:lnTo>
                    <a:pt x="789335" y="189353"/>
                  </a:lnTo>
                  <a:cubicBezTo>
                    <a:pt x="789335" y="222238"/>
                    <a:pt x="776271" y="253777"/>
                    <a:pt x="753018" y="277030"/>
                  </a:cubicBezTo>
                  <a:cubicBezTo>
                    <a:pt x="729764" y="300284"/>
                    <a:pt x="698226" y="313347"/>
                    <a:pt x="665340" y="313347"/>
                  </a:cubicBezTo>
                  <a:lnTo>
                    <a:pt x="123994" y="313347"/>
                  </a:lnTo>
                  <a:cubicBezTo>
                    <a:pt x="55514" y="313347"/>
                    <a:pt x="0" y="257833"/>
                    <a:pt x="0" y="189353"/>
                  </a:cubicBezTo>
                  <a:lnTo>
                    <a:pt x="0" y="123994"/>
                  </a:lnTo>
                  <a:cubicBezTo>
                    <a:pt x="0" y="91109"/>
                    <a:pt x="13064" y="59571"/>
                    <a:pt x="36317" y="36317"/>
                  </a:cubicBezTo>
                  <a:cubicBezTo>
                    <a:pt x="59571" y="13064"/>
                    <a:pt x="91109" y="0"/>
                    <a:pt x="123994"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30" id="30"/>
            <p:cNvSpPr txBox="true"/>
            <p:nvPr/>
          </p:nvSpPr>
          <p:spPr>
            <a:xfrm>
              <a:off x="0" y="-85725"/>
              <a:ext cx="789335" cy="399072"/>
            </a:xfrm>
            <a:prstGeom prst="rect">
              <a:avLst/>
            </a:prstGeom>
          </p:spPr>
          <p:txBody>
            <a:bodyPr anchor="ctr" rtlCol="false" tIns="50800" lIns="50800" bIns="50800" rIns="50800"/>
            <a:lstStyle/>
            <a:p>
              <a:pPr algn="ctr">
                <a:lnSpc>
                  <a:spcPts val="2663"/>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3982317" y="6289558"/>
            <a:ext cx="4784312" cy="1985858"/>
            <a:chOff x="0" y="0"/>
            <a:chExt cx="1260066" cy="523024"/>
          </a:xfrm>
        </p:grpSpPr>
        <p:sp>
          <p:nvSpPr>
            <p:cNvPr name="Freeform 4" id="4"/>
            <p:cNvSpPr/>
            <p:nvPr/>
          </p:nvSpPr>
          <p:spPr>
            <a:xfrm flipH="false" flipV="false" rot="0">
              <a:off x="0" y="0"/>
              <a:ext cx="1260066" cy="523024"/>
            </a:xfrm>
            <a:custGeom>
              <a:avLst/>
              <a:gdLst/>
              <a:ahLst/>
              <a:cxnLst/>
              <a:rect r="r" b="b" t="t" l="l"/>
              <a:pathLst>
                <a:path h="523024" w="1260066">
                  <a:moveTo>
                    <a:pt x="77673" y="0"/>
                  </a:moveTo>
                  <a:lnTo>
                    <a:pt x="1182393" y="0"/>
                  </a:lnTo>
                  <a:cubicBezTo>
                    <a:pt x="1202993" y="0"/>
                    <a:pt x="1222749" y="8183"/>
                    <a:pt x="1237316" y="22750"/>
                  </a:cubicBezTo>
                  <a:cubicBezTo>
                    <a:pt x="1251882" y="37316"/>
                    <a:pt x="1260066" y="57073"/>
                    <a:pt x="1260066" y="77673"/>
                  </a:cubicBezTo>
                  <a:lnTo>
                    <a:pt x="1260066" y="445351"/>
                  </a:lnTo>
                  <a:cubicBezTo>
                    <a:pt x="1260066" y="465952"/>
                    <a:pt x="1251882" y="485708"/>
                    <a:pt x="1237316" y="500274"/>
                  </a:cubicBezTo>
                  <a:cubicBezTo>
                    <a:pt x="1222749" y="514841"/>
                    <a:pt x="1202993" y="523024"/>
                    <a:pt x="1182393" y="523024"/>
                  </a:cubicBezTo>
                  <a:lnTo>
                    <a:pt x="77673" y="523024"/>
                  </a:lnTo>
                  <a:cubicBezTo>
                    <a:pt x="57073" y="523024"/>
                    <a:pt x="37316" y="514841"/>
                    <a:pt x="22750" y="500274"/>
                  </a:cubicBezTo>
                  <a:cubicBezTo>
                    <a:pt x="8183" y="485708"/>
                    <a:pt x="0" y="465952"/>
                    <a:pt x="0" y="445351"/>
                  </a:cubicBezTo>
                  <a:lnTo>
                    <a:pt x="0" y="77673"/>
                  </a:lnTo>
                  <a:cubicBezTo>
                    <a:pt x="0" y="57073"/>
                    <a:pt x="8183" y="37316"/>
                    <a:pt x="22750" y="22750"/>
                  </a:cubicBezTo>
                  <a:cubicBezTo>
                    <a:pt x="37316" y="8183"/>
                    <a:pt x="57073" y="0"/>
                    <a:pt x="77673" y="0"/>
                  </a:cubicBezTo>
                  <a:close/>
                </a:path>
              </a:pathLst>
            </a:custGeom>
            <a:ln w="57150" cap="rnd">
              <a:gradFill>
                <a:gsLst>
                  <a:gs pos="0">
                    <a:srgbClr val="B4EAFF">
                      <a:alpha val="100000"/>
                    </a:srgbClr>
                  </a:gs>
                  <a:gs pos="100000">
                    <a:srgbClr val="0078A8">
                      <a:alpha val="0"/>
                    </a:srgbClr>
                  </a:gs>
                </a:gsLst>
                <a:lin ang="0"/>
              </a:gradFill>
              <a:prstDash val="solid"/>
              <a:round/>
            </a:ln>
          </p:spPr>
        </p:sp>
        <p:sp>
          <p:nvSpPr>
            <p:cNvPr name="TextBox 5" id="5"/>
            <p:cNvSpPr txBox="true"/>
            <p:nvPr/>
          </p:nvSpPr>
          <p:spPr>
            <a:xfrm>
              <a:off x="0" y="-85725"/>
              <a:ext cx="1260066" cy="608749"/>
            </a:xfrm>
            <a:prstGeom prst="rect">
              <a:avLst/>
            </a:prstGeom>
          </p:spPr>
          <p:txBody>
            <a:bodyPr anchor="ctr" rtlCol="false" tIns="50800" lIns="50800" bIns="50800" rIns="50800"/>
            <a:lstStyle/>
            <a:p>
              <a:pPr algn="ctr">
                <a:lnSpc>
                  <a:spcPts val="2663"/>
                </a:lnSpc>
              </a:pPr>
            </a:p>
          </p:txBody>
        </p:sp>
      </p:grpSp>
      <p:grpSp>
        <p:nvGrpSpPr>
          <p:cNvPr name="Group 6" id="6"/>
          <p:cNvGrpSpPr/>
          <p:nvPr/>
        </p:nvGrpSpPr>
        <p:grpSpPr>
          <a:xfrm rot="0">
            <a:off x="11245170" y="6194082"/>
            <a:ext cx="6014130" cy="1928829"/>
            <a:chOff x="0" y="0"/>
            <a:chExt cx="1583968" cy="508004"/>
          </a:xfrm>
        </p:grpSpPr>
        <p:sp>
          <p:nvSpPr>
            <p:cNvPr name="Freeform 7" id="7"/>
            <p:cNvSpPr/>
            <p:nvPr/>
          </p:nvSpPr>
          <p:spPr>
            <a:xfrm flipH="false" flipV="false" rot="0">
              <a:off x="0" y="0"/>
              <a:ext cx="1583968" cy="508004"/>
            </a:xfrm>
            <a:custGeom>
              <a:avLst/>
              <a:gdLst/>
              <a:ahLst/>
              <a:cxnLst/>
              <a:rect r="r" b="b" t="t" l="l"/>
              <a:pathLst>
                <a:path h="508004" w="1583968">
                  <a:moveTo>
                    <a:pt x="61790" y="0"/>
                  </a:moveTo>
                  <a:lnTo>
                    <a:pt x="1522179" y="0"/>
                  </a:lnTo>
                  <a:cubicBezTo>
                    <a:pt x="1556304" y="0"/>
                    <a:pt x="1583968" y="27664"/>
                    <a:pt x="1583968" y="61790"/>
                  </a:cubicBezTo>
                  <a:lnTo>
                    <a:pt x="1583968" y="446214"/>
                  </a:lnTo>
                  <a:cubicBezTo>
                    <a:pt x="1583968" y="480340"/>
                    <a:pt x="1556304" y="508004"/>
                    <a:pt x="1522179" y="508004"/>
                  </a:cubicBezTo>
                  <a:lnTo>
                    <a:pt x="61790" y="508004"/>
                  </a:lnTo>
                  <a:cubicBezTo>
                    <a:pt x="27664" y="508004"/>
                    <a:pt x="0" y="480340"/>
                    <a:pt x="0" y="446214"/>
                  </a:cubicBezTo>
                  <a:lnTo>
                    <a:pt x="0" y="61790"/>
                  </a:lnTo>
                  <a:cubicBezTo>
                    <a:pt x="0" y="27664"/>
                    <a:pt x="27664" y="0"/>
                    <a:pt x="61790" y="0"/>
                  </a:cubicBezTo>
                  <a:close/>
                </a:path>
              </a:pathLst>
            </a:custGeom>
            <a:ln w="57150" cap="rnd">
              <a:gradFill>
                <a:gsLst>
                  <a:gs pos="0">
                    <a:srgbClr val="B4EAFF">
                      <a:alpha val="100000"/>
                    </a:srgbClr>
                  </a:gs>
                  <a:gs pos="100000">
                    <a:srgbClr val="0078A8">
                      <a:alpha val="0"/>
                    </a:srgbClr>
                  </a:gs>
                </a:gsLst>
                <a:lin ang="0"/>
              </a:gradFill>
              <a:prstDash val="solid"/>
              <a:round/>
            </a:ln>
          </p:spPr>
        </p:sp>
        <p:sp>
          <p:nvSpPr>
            <p:cNvPr name="TextBox 8" id="8"/>
            <p:cNvSpPr txBox="true"/>
            <p:nvPr/>
          </p:nvSpPr>
          <p:spPr>
            <a:xfrm>
              <a:off x="0" y="-85725"/>
              <a:ext cx="1583968" cy="593729"/>
            </a:xfrm>
            <a:prstGeom prst="rect">
              <a:avLst/>
            </a:prstGeom>
          </p:spPr>
          <p:txBody>
            <a:bodyPr anchor="ctr" rtlCol="false" tIns="50800" lIns="50800" bIns="50800" rIns="50800"/>
            <a:lstStyle/>
            <a:p>
              <a:pPr algn="ctr">
                <a:lnSpc>
                  <a:spcPts val="2663"/>
                </a:lnSpc>
              </a:pPr>
            </a:p>
          </p:txBody>
        </p:sp>
      </p:grpSp>
      <p:sp>
        <p:nvSpPr>
          <p:cNvPr name="Freeform 9" id="9"/>
          <p:cNvSpPr/>
          <p:nvPr/>
        </p:nvSpPr>
        <p:spPr>
          <a:xfrm flipH="false" flipV="false" rot="0">
            <a:off x="-2389850" y="3772759"/>
            <a:ext cx="5640577" cy="3148468"/>
          </a:xfrm>
          <a:custGeom>
            <a:avLst/>
            <a:gdLst/>
            <a:ahLst/>
            <a:cxnLst/>
            <a:rect r="r" b="b" t="t" l="l"/>
            <a:pathLst>
              <a:path h="3148468" w="5640577">
                <a:moveTo>
                  <a:pt x="0" y="0"/>
                </a:moveTo>
                <a:lnTo>
                  <a:pt x="5640578" y="0"/>
                </a:lnTo>
                <a:lnTo>
                  <a:pt x="5640578" y="3148467"/>
                </a:lnTo>
                <a:lnTo>
                  <a:pt x="0" y="31484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579318" y="4920971"/>
            <a:ext cx="4561635" cy="2546222"/>
          </a:xfrm>
          <a:custGeom>
            <a:avLst/>
            <a:gdLst/>
            <a:ahLst/>
            <a:cxnLst/>
            <a:rect r="r" b="b" t="t" l="l"/>
            <a:pathLst>
              <a:path h="2546222" w="4561635">
                <a:moveTo>
                  <a:pt x="0" y="0"/>
                </a:moveTo>
                <a:lnTo>
                  <a:pt x="4561635" y="0"/>
                </a:lnTo>
                <a:lnTo>
                  <a:pt x="4561635" y="2546222"/>
                </a:lnTo>
                <a:lnTo>
                  <a:pt x="0" y="25462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873300" y="3843676"/>
            <a:ext cx="2203513" cy="2203513"/>
          </a:xfrm>
          <a:custGeom>
            <a:avLst/>
            <a:gdLst/>
            <a:ahLst/>
            <a:cxnLst/>
            <a:rect r="r" b="b" t="t" l="l"/>
            <a:pathLst>
              <a:path h="2203513" w="2203513">
                <a:moveTo>
                  <a:pt x="0" y="0"/>
                </a:moveTo>
                <a:lnTo>
                  <a:pt x="2203513" y="0"/>
                </a:lnTo>
                <a:lnTo>
                  <a:pt x="2203513" y="2203513"/>
                </a:lnTo>
                <a:lnTo>
                  <a:pt x="0" y="22035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true" flipV="false" rot="0">
            <a:off x="-866757" y="5576689"/>
            <a:ext cx="4561635" cy="2546222"/>
          </a:xfrm>
          <a:custGeom>
            <a:avLst/>
            <a:gdLst/>
            <a:ahLst/>
            <a:cxnLst/>
            <a:rect r="r" b="b" t="t" l="l"/>
            <a:pathLst>
              <a:path h="2546222" w="4561635">
                <a:moveTo>
                  <a:pt x="4561635" y="0"/>
                </a:moveTo>
                <a:lnTo>
                  <a:pt x="0" y="0"/>
                </a:lnTo>
                <a:lnTo>
                  <a:pt x="0" y="2546222"/>
                </a:lnTo>
                <a:lnTo>
                  <a:pt x="4561635" y="2546222"/>
                </a:lnTo>
                <a:lnTo>
                  <a:pt x="4561635"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3787343" y="3112087"/>
            <a:ext cx="731589" cy="73158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9052378" y="6961977"/>
            <a:ext cx="1666269" cy="1072471"/>
          </a:xfrm>
          <a:custGeom>
            <a:avLst/>
            <a:gdLst/>
            <a:ahLst/>
            <a:cxnLst/>
            <a:rect r="r" b="b" t="t" l="l"/>
            <a:pathLst>
              <a:path h="1072471" w="1666269">
                <a:moveTo>
                  <a:pt x="0" y="0"/>
                </a:moveTo>
                <a:lnTo>
                  <a:pt x="1666269" y="0"/>
                </a:lnTo>
                <a:lnTo>
                  <a:pt x="1666269" y="1072471"/>
                </a:lnTo>
                <a:lnTo>
                  <a:pt x="0" y="10724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4578763" y="951880"/>
            <a:ext cx="11235138" cy="1837054"/>
          </a:xfrm>
          <a:prstGeom prst="rect">
            <a:avLst/>
          </a:prstGeom>
        </p:spPr>
        <p:txBody>
          <a:bodyPr anchor="t" rtlCol="false" tIns="0" lIns="0" bIns="0" rIns="0">
            <a:spAutoFit/>
          </a:bodyPr>
          <a:lstStyle/>
          <a:p>
            <a:pPr algn="ctr">
              <a:lnSpc>
                <a:spcPts val="7420"/>
              </a:lnSpc>
              <a:spcBef>
                <a:spcPct val="0"/>
              </a:spcBef>
            </a:pPr>
            <a:r>
              <a:rPr lang="en-US" sz="5300">
                <a:solidFill>
                  <a:srgbClr val="FFFFFF"/>
                </a:solidFill>
                <a:latin typeface="Shrikhand"/>
                <a:ea typeface="Shrikhand"/>
                <a:cs typeface="Shrikhand"/>
                <a:sym typeface="Shrikhand"/>
              </a:rPr>
              <a:t>Falta de Factorización por la Izquierda</a:t>
            </a:r>
          </a:p>
        </p:txBody>
      </p:sp>
      <p:sp>
        <p:nvSpPr>
          <p:cNvPr name="TextBox 18" id="18"/>
          <p:cNvSpPr txBox="true"/>
          <p:nvPr/>
        </p:nvSpPr>
        <p:spPr>
          <a:xfrm rot="0">
            <a:off x="5466128" y="6704554"/>
            <a:ext cx="1816690" cy="936565"/>
          </a:xfrm>
          <a:prstGeom prst="rect">
            <a:avLst/>
          </a:prstGeom>
        </p:spPr>
        <p:txBody>
          <a:bodyPr anchor="t" rtlCol="false" tIns="0" lIns="0" bIns="0" rIns="0">
            <a:spAutoFit/>
          </a:bodyPr>
          <a:lstStyle/>
          <a:p>
            <a:pPr algn="ctr">
              <a:lnSpc>
                <a:spcPts val="3503"/>
              </a:lnSpc>
            </a:pPr>
            <a:r>
              <a:rPr lang="en-US" sz="2502">
                <a:solidFill>
                  <a:srgbClr val="FFFFFF"/>
                </a:solidFill>
                <a:latin typeface="Agrandir"/>
                <a:ea typeface="Agrandir"/>
                <a:cs typeface="Agrandir"/>
                <a:sym typeface="Agrandir"/>
              </a:rPr>
              <a:t>A → αA'</a:t>
            </a:r>
          </a:p>
          <a:p>
            <a:pPr algn="ctr">
              <a:lnSpc>
                <a:spcPts val="3503"/>
              </a:lnSpc>
              <a:spcBef>
                <a:spcPct val="0"/>
              </a:spcBef>
            </a:pPr>
            <a:r>
              <a:rPr lang="en-US" sz="2502">
                <a:solidFill>
                  <a:srgbClr val="FFFFFF"/>
                </a:solidFill>
                <a:latin typeface="Agrandir"/>
                <a:ea typeface="Agrandir"/>
                <a:cs typeface="Agrandir"/>
                <a:sym typeface="Agrandir"/>
              </a:rPr>
              <a:t>A→ β1 | β2</a:t>
            </a:r>
          </a:p>
        </p:txBody>
      </p:sp>
      <p:sp>
        <p:nvSpPr>
          <p:cNvPr name="TextBox 19" id="19"/>
          <p:cNvSpPr txBox="true"/>
          <p:nvPr/>
        </p:nvSpPr>
        <p:spPr>
          <a:xfrm rot="0">
            <a:off x="11396083" y="6386162"/>
            <a:ext cx="5480822" cy="1451720"/>
          </a:xfrm>
          <a:prstGeom prst="rect">
            <a:avLst/>
          </a:prstGeom>
        </p:spPr>
        <p:txBody>
          <a:bodyPr anchor="t" rtlCol="false" tIns="0" lIns="0" bIns="0" rIns="0">
            <a:spAutoFit/>
          </a:bodyPr>
          <a:lstStyle/>
          <a:p>
            <a:pPr algn="ctr">
              <a:lnSpc>
                <a:spcPts val="2835"/>
              </a:lnSpc>
            </a:pPr>
            <a:r>
              <a:rPr lang="en-US" sz="2025">
                <a:solidFill>
                  <a:srgbClr val="FFFFFF"/>
                </a:solidFill>
                <a:latin typeface="Agrandir"/>
                <a:ea typeface="Agrandir"/>
                <a:cs typeface="Agrandir"/>
                <a:sym typeface="Agrandir"/>
              </a:rPr>
              <a:t>Antes: S → if E then S else S | if E then S</a:t>
            </a:r>
          </a:p>
          <a:p>
            <a:pPr algn="ctr">
              <a:lnSpc>
                <a:spcPts val="2835"/>
              </a:lnSpc>
            </a:pPr>
            <a:r>
              <a:rPr lang="en-US" sz="2025">
                <a:solidFill>
                  <a:srgbClr val="FFFFFF"/>
                </a:solidFill>
                <a:latin typeface="Agrandir"/>
                <a:ea typeface="Agrandir"/>
                <a:cs typeface="Agrandir"/>
                <a:sym typeface="Agrandir"/>
              </a:rPr>
              <a:t>Después: S → if E then S S'</a:t>
            </a:r>
          </a:p>
          <a:p>
            <a:pPr algn="ctr">
              <a:lnSpc>
                <a:spcPts val="2835"/>
              </a:lnSpc>
              <a:spcBef>
                <a:spcPct val="0"/>
              </a:spcBef>
            </a:pPr>
            <a:r>
              <a:rPr lang="en-US" sz="2025">
                <a:solidFill>
                  <a:srgbClr val="FFFFFF"/>
                </a:solidFill>
                <a:latin typeface="Agrandir"/>
                <a:ea typeface="Agrandir"/>
                <a:cs typeface="Agrandir"/>
                <a:sym typeface="Agrandir"/>
              </a:rPr>
              <a:t>  S' → else S | ε</a:t>
            </a:r>
          </a:p>
        </p:txBody>
      </p:sp>
      <p:sp>
        <p:nvSpPr>
          <p:cNvPr name="TextBox 20" id="20"/>
          <p:cNvSpPr txBox="true"/>
          <p:nvPr/>
        </p:nvSpPr>
        <p:spPr>
          <a:xfrm rot="0">
            <a:off x="4749584" y="2957863"/>
            <a:ext cx="4955632" cy="829945"/>
          </a:xfrm>
          <a:prstGeom prst="rect">
            <a:avLst/>
          </a:prstGeom>
        </p:spPr>
        <p:txBody>
          <a:bodyPr anchor="t" rtlCol="false" tIns="0" lIns="0" bIns="0" rIns="0">
            <a:spAutoFit/>
          </a:bodyPr>
          <a:lstStyle/>
          <a:p>
            <a:pPr algn="l">
              <a:lnSpc>
                <a:spcPts val="3079"/>
              </a:lnSpc>
            </a:pPr>
            <a:r>
              <a:rPr lang="en-US" sz="2199" b="true">
                <a:solidFill>
                  <a:srgbClr val="FFFFFF"/>
                </a:solidFill>
                <a:latin typeface="Agrandir Bold"/>
                <a:ea typeface="Agrandir Bold"/>
                <a:cs typeface="Agrandir Bold"/>
                <a:sym typeface="Agrandir Bold"/>
              </a:rPr>
              <a:t>Dificulta la elección de producción en parsers predictivos</a:t>
            </a:r>
          </a:p>
        </p:txBody>
      </p:sp>
      <p:sp>
        <p:nvSpPr>
          <p:cNvPr name="TextBox 21" id="21"/>
          <p:cNvSpPr txBox="true"/>
          <p:nvPr/>
        </p:nvSpPr>
        <p:spPr>
          <a:xfrm rot="0">
            <a:off x="4749584" y="5436118"/>
            <a:ext cx="4613491" cy="481965"/>
          </a:xfrm>
          <a:prstGeom prst="rect">
            <a:avLst/>
          </a:prstGeom>
        </p:spPr>
        <p:txBody>
          <a:bodyPr anchor="t" rtlCol="false" tIns="0" lIns="0" bIns="0" rIns="0">
            <a:spAutoFit/>
          </a:bodyPr>
          <a:lstStyle/>
          <a:p>
            <a:pPr algn="l">
              <a:lnSpc>
                <a:spcPts val="3359"/>
              </a:lnSpc>
            </a:pPr>
            <a:r>
              <a:rPr lang="en-US" sz="2399">
                <a:solidFill>
                  <a:srgbClr val="FFFFFF"/>
                </a:solidFill>
                <a:latin typeface="Agrandir"/>
                <a:ea typeface="Agrandir"/>
                <a:cs typeface="Agrandir"/>
                <a:sym typeface="Agrandir"/>
              </a:rPr>
              <a:t>2.Crear nueva regla:</a:t>
            </a:r>
          </a:p>
        </p:txBody>
      </p:sp>
      <p:sp>
        <p:nvSpPr>
          <p:cNvPr name="TextBox 22" id="22"/>
          <p:cNvSpPr txBox="true"/>
          <p:nvPr/>
        </p:nvSpPr>
        <p:spPr>
          <a:xfrm rot="0">
            <a:off x="4438887" y="4821608"/>
            <a:ext cx="4327741" cy="901065"/>
          </a:xfrm>
          <a:prstGeom prst="rect">
            <a:avLst/>
          </a:prstGeom>
        </p:spPr>
        <p:txBody>
          <a:bodyPr anchor="t" rtlCol="false" tIns="0" lIns="0" bIns="0" rIns="0">
            <a:spAutoFit/>
          </a:bodyPr>
          <a:lstStyle/>
          <a:p>
            <a:pPr algn="just" marL="518158" indent="-259079" lvl="1">
              <a:lnSpc>
                <a:spcPts val="3359"/>
              </a:lnSpc>
              <a:buAutoNum type="arabicPeriod" startAt="1"/>
            </a:pPr>
            <a:r>
              <a:rPr lang="en-US" sz="2399">
                <a:solidFill>
                  <a:srgbClr val="FFFFFF"/>
                </a:solidFill>
                <a:latin typeface="Agrandir"/>
                <a:ea typeface="Agrandir"/>
                <a:cs typeface="Agrandir"/>
                <a:sym typeface="Agrandir"/>
              </a:rPr>
              <a:t>Extraer prefijo común α.</a:t>
            </a:r>
          </a:p>
          <a:p>
            <a:pPr algn="just">
              <a:lnSpc>
                <a:spcPts val="3359"/>
              </a:lnSpc>
              <a:spcBef>
                <a:spcPct val="0"/>
              </a:spcBef>
            </a:pPr>
          </a:p>
        </p:txBody>
      </p:sp>
      <p:sp>
        <p:nvSpPr>
          <p:cNvPr name="TextBox 23" id="23"/>
          <p:cNvSpPr txBox="true"/>
          <p:nvPr/>
        </p:nvSpPr>
        <p:spPr>
          <a:xfrm rot="0">
            <a:off x="7657782" y="4013887"/>
            <a:ext cx="5077100" cy="931545"/>
          </a:xfrm>
          <a:prstGeom prst="rect">
            <a:avLst/>
          </a:prstGeom>
        </p:spPr>
        <p:txBody>
          <a:bodyPr anchor="t" rtlCol="false" tIns="0" lIns="0" bIns="0" rIns="0">
            <a:spAutoFit/>
          </a:bodyPr>
          <a:lstStyle/>
          <a:p>
            <a:pPr algn="just">
              <a:lnSpc>
                <a:spcPts val="3779"/>
              </a:lnSpc>
            </a:pPr>
            <a:r>
              <a:rPr lang="en-US" sz="2699">
                <a:solidFill>
                  <a:srgbClr val="FFFFFF"/>
                </a:solidFill>
                <a:latin typeface="Shrikhand"/>
                <a:ea typeface="Shrikhand"/>
                <a:cs typeface="Shrikhand"/>
                <a:sym typeface="Shrikhand"/>
              </a:rPr>
              <a:t>Algoritmo de factorización</a:t>
            </a:r>
          </a:p>
          <a:p>
            <a:pPr algn="just">
              <a:lnSpc>
                <a:spcPts val="3779"/>
              </a:lnSpc>
              <a:spcBef>
                <a:spcPct val="0"/>
              </a:spcBef>
            </a:pPr>
          </a:p>
        </p:txBody>
      </p:sp>
      <p:sp>
        <p:nvSpPr>
          <p:cNvPr name="TextBox 24" id="24"/>
          <p:cNvSpPr txBox="true"/>
          <p:nvPr/>
        </p:nvSpPr>
        <p:spPr>
          <a:xfrm rot="0">
            <a:off x="8863082" y="6282745"/>
            <a:ext cx="2666500" cy="567055"/>
          </a:xfrm>
          <a:prstGeom prst="rect">
            <a:avLst/>
          </a:prstGeom>
        </p:spPr>
        <p:txBody>
          <a:bodyPr anchor="t" rtlCol="false" tIns="0" lIns="0" bIns="0" rIns="0">
            <a:spAutoFit/>
          </a:bodyPr>
          <a:lstStyle/>
          <a:p>
            <a:pPr algn="l">
              <a:lnSpc>
                <a:spcPts val="3919"/>
              </a:lnSpc>
            </a:pPr>
            <a:r>
              <a:rPr lang="en-US" sz="2799" b="true">
                <a:solidFill>
                  <a:srgbClr val="FFFFFF"/>
                </a:solidFill>
                <a:latin typeface="Agrandir Bold"/>
                <a:ea typeface="Agrandir Bold"/>
                <a:cs typeface="Agrandir Bold"/>
                <a:sym typeface="Agrandir Bold"/>
              </a:rPr>
              <a:t>Corrección</a:t>
            </a:r>
          </a:p>
        </p:txBody>
      </p:sp>
      <p:sp>
        <p:nvSpPr>
          <p:cNvPr name="TextBox 25" id="25"/>
          <p:cNvSpPr txBox="true"/>
          <p:nvPr/>
        </p:nvSpPr>
        <p:spPr>
          <a:xfrm rot="0">
            <a:off x="11529582" y="8457897"/>
            <a:ext cx="4909002" cy="739423"/>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Agrandir"/>
                <a:ea typeface="Agrandir"/>
                <a:cs typeface="Agrandir"/>
                <a:sym typeface="Agrandir"/>
              </a:rPr>
              <a:t>Ahora el analizador lee el prefijo común sin dudas y decide después con 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4008267" y="3362325"/>
            <a:ext cx="5657850" cy="56578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33450" cap="sq">
              <a:gradFill>
                <a:gsLst>
                  <a:gs pos="0">
                    <a:srgbClr val="0078A8">
                      <a:alpha val="0"/>
                    </a:srgbClr>
                  </a:gs>
                  <a:gs pos="100000">
                    <a:srgbClr val="036E99">
                      <a:alpha val="630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17061" y="4984643"/>
            <a:ext cx="2431473" cy="4114800"/>
          </a:xfrm>
          <a:custGeom>
            <a:avLst/>
            <a:gdLst/>
            <a:ahLst/>
            <a:cxnLst/>
            <a:rect r="r" b="b" t="t" l="l"/>
            <a:pathLst>
              <a:path h="4114800" w="2431473">
                <a:moveTo>
                  <a:pt x="0" y="0"/>
                </a:moveTo>
                <a:lnTo>
                  <a:pt x="2431473" y="0"/>
                </a:lnTo>
                <a:lnTo>
                  <a:pt x="243147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08209" y="3228975"/>
            <a:ext cx="14471581" cy="2644395"/>
          </a:xfrm>
          <a:prstGeom prst="rect">
            <a:avLst/>
          </a:prstGeom>
        </p:spPr>
        <p:txBody>
          <a:bodyPr anchor="t" rtlCol="false" tIns="0" lIns="0" bIns="0" rIns="0">
            <a:spAutoFit/>
          </a:bodyPr>
          <a:lstStyle/>
          <a:p>
            <a:pPr algn="ctr">
              <a:lnSpc>
                <a:spcPts val="10695"/>
              </a:lnSpc>
            </a:pPr>
            <a:r>
              <a:rPr lang="en-US" sz="7639">
                <a:solidFill>
                  <a:srgbClr val="FFFFFF"/>
                </a:solidFill>
                <a:latin typeface="Shrikhand"/>
                <a:ea typeface="Shrikhand"/>
                <a:cs typeface="Shrikhand"/>
                <a:sym typeface="Shrikhand"/>
              </a:rPr>
              <a:t>De la Expresion Al Automata </a:t>
            </a:r>
          </a:p>
          <a:p>
            <a:pPr algn="ctr">
              <a:lnSpc>
                <a:spcPts val="10695"/>
              </a:lnSpc>
              <a:spcBef>
                <a:spcPct val="0"/>
              </a:spcBef>
            </a:pPr>
            <a:r>
              <a:rPr lang="en-US" sz="7639">
                <a:solidFill>
                  <a:srgbClr val="FFFFFF"/>
                </a:solidFill>
                <a:latin typeface="Shrikhand"/>
                <a:ea typeface="Shrikhand"/>
                <a:cs typeface="Shrikhand"/>
                <a:sym typeface="Shrikhand"/>
              </a:rPr>
              <a:t>(Ajedrez PGN)</a:t>
            </a:r>
          </a:p>
        </p:txBody>
      </p:sp>
      <p:sp>
        <p:nvSpPr>
          <p:cNvPr name="TextBox 8" id="8"/>
          <p:cNvSpPr txBox="true"/>
          <p:nvPr/>
        </p:nvSpPr>
        <p:spPr>
          <a:xfrm rot="0">
            <a:off x="2091905" y="6292773"/>
            <a:ext cx="11425156" cy="1374715"/>
          </a:xfrm>
          <a:prstGeom prst="rect">
            <a:avLst/>
          </a:prstGeom>
        </p:spPr>
        <p:txBody>
          <a:bodyPr anchor="t" rtlCol="false" tIns="0" lIns="0" bIns="0" rIns="0">
            <a:spAutoFit/>
          </a:bodyPr>
          <a:lstStyle/>
          <a:p>
            <a:pPr algn="just">
              <a:lnSpc>
                <a:spcPts val="3503"/>
              </a:lnSpc>
              <a:spcBef>
                <a:spcPct val="0"/>
              </a:spcBef>
            </a:pPr>
            <a:r>
              <a:rPr lang="en-US" sz="2502">
                <a:solidFill>
                  <a:srgbClr val="FFFFFF"/>
                </a:solidFill>
                <a:latin typeface="Agrandir"/>
                <a:ea typeface="Agrandir"/>
                <a:cs typeface="Agrandir"/>
                <a:sym typeface="Agrandir"/>
              </a:rPr>
              <a:t>El objetivo es explicar la transformación de una notación textual estructurada (el formato PGN de ajedrez) hacia un modelo computacional ejecutable (un autómata).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715374" y="4261428"/>
            <a:ext cx="731589" cy="73158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15374" y="5699043"/>
            <a:ext cx="731589" cy="73158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238398" y="4246264"/>
            <a:ext cx="731589" cy="73158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6238398" y="5699043"/>
            <a:ext cx="731589" cy="73158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5773206" y="143002"/>
            <a:ext cx="2515986" cy="251598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57225" cap="sq">
              <a:gradFill>
                <a:gsLst>
                  <a:gs pos="0">
                    <a:srgbClr val="B4EAFF">
                      <a:alpha val="63000"/>
                    </a:srgbClr>
                  </a:gs>
                  <a:gs pos="100000">
                    <a:srgbClr val="0078A8">
                      <a:alpha val="0"/>
                    </a:srgbClr>
                  </a:gs>
                </a:gsLst>
                <a:lin ang="0"/>
              </a:gra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715374" y="7135482"/>
            <a:ext cx="731589" cy="73158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6238398" y="7135482"/>
            <a:ext cx="731589" cy="73158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false" flipV="false" rot="0">
            <a:off x="10900588" y="3092016"/>
            <a:ext cx="4945914" cy="4775056"/>
          </a:xfrm>
          <a:custGeom>
            <a:avLst/>
            <a:gdLst/>
            <a:ahLst/>
            <a:cxnLst/>
            <a:rect r="r" b="b" t="t" l="l"/>
            <a:pathLst>
              <a:path h="4775056" w="4945914">
                <a:moveTo>
                  <a:pt x="0" y="0"/>
                </a:moveTo>
                <a:lnTo>
                  <a:pt x="4945915" y="0"/>
                </a:lnTo>
                <a:lnTo>
                  <a:pt x="4945915" y="4775056"/>
                </a:lnTo>
                <a:lnTo>
                  <a:pt x="0" y="47750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5" id="25"/>
          <p:cNvSpPr txBox="true"/>
          <p:nvPr/>
        </p:nvSpPr>
        <p:spPr>
          <a:xfrm rot="0">
            <a:off x="2338864" y="4179589"/>
            <a:ext cx="3264763" cy="1066800"/>
          </a:xfrm>
          <a:prstGeom prst="rect">
            <a:avLst/>
          </a:prstGeom>
        </p:spPr>
        <p:txBody>
          <a:bodyPr anchor="t" rtlCol="false" tIns="0" lIns="0" bIns="0" rIns="0">
            <a:spAutoFit/>
          </a:bodyPr>
          <a:lstStyle/>
          <a:p>
            <a:pPr algn="l" marL="472931" indent="-236466" lvl="1">
              <a:lnSpc>
                <a:spcPts val="2628"/>
              </a:lnSpc>
              <a:buAutoNum type="arabicPeriod" startAt="1"/>
            </a:pPr>
            <a:r>
              <a:rPr lang="en-US" sz="2190">
                <a:solidFill>
                  <a:srgbClr val="FFFFFF"/>
                </a:solidFill>
                <a:latin typeface="Agrandir"/>
                <a:ea typeface="Agrandir"/>
                <a:cs typeface="Agrandir"/>
                <a:sym typeface="Agrandir"/>
              </a:rPr>
              <a:t>Movimientos de peón y piezas (ej. e4, Nf3).</a:t>
            </a:r>
          </a:p>
          <a:p>
            <a:pPr algn="ctr">
              <a:lnSpc>
                <a:spcPts val="2628"/>
              </a:lnSpc>
            </a:pPr>
          </a:p>
        </p:txBody>
      </p:sp>
      <p:sp>
        <p:nvSpPr>
          <p:cNvPr name="TextBox 26" id="26"/>
          <p:cNvSpPr txBox="true"/>
          <p:nvPr/>
        </p:nvSpPr>
        <p:spPr>
          <a:xfrm rot="0">
            <a:off x="2338864" y="5632368"/>
            <a:ext cx="2991256" cy="1400175"/>
          </a:xfrm>
          <a:prstGeom prst="rect">
            <a:avLst/>
          </a:prstGeom>
        </p:spPr>
        <p:txBody>
          <a:bodyPr anchor="t" rtlCol="false" tIns="0" lIns="0" bIns="0" rIns="0">
            <a:spAutoFit/>
          </a:bodyPr>
          <a:lstStyle/>
          <a:p>
            <a:pPr algn="ctr">
              <a:lnSpc>
                <a:spcPts val="2628"/>
              </a:lnSpc>
            </a:pPr>
            <a:r>
              <a:rPr lang="en-US" sz="2190">
                <a:solidFill>
                  <a:srgbClr val="FFFFFF"/>
                </a:solidFill>
                <a:latin typeface="Agrandir"/>
                <a:ea typeface="Agrandir"/>
                <a:cs typeface="Agrandir"/>
                <a:sym typeface="Agrandir"/>
              </a:rPr>
              <a:t>3.Desambiguación     de origen</a:t>
            </a:r>
          </a:p>
          <a:p>
            <a:pPr algn="ctr">
              <a:lnSpc>
                <a:spcPts val="2628"/>
              </a:lnSpc>
            </a:pPr>
            <a:r>
              <a:rPr lang="en-US" sz="2190">
                <a:solidFill>
                  <a:srgbClr val="FFFFFF"/>
                </a:solidFill>
                <a:latin typeface="Agrandir"/>
                <a:ea typeface="Agrandir"/>
                <a:cs typeface="Agrandir"/>
                <a:sym typeface="Agrandir"/>
              </a:rPr>
              <a:t> (ej. Nbd2, R1e4).</a:t>
            </a:r>
          </a:p>
          <a:p>
            <a:pPr algn="just">
              <a:lnSpc>
                <a:spcPts val="2628"/>
              </a:lnSpc>
            </a:pPr>
          </a:p>
        </p:txBody>
      </p:sp>
      <p:sp>
        <p:nvSpPr>
          <p:cNvPr name="TextBox 27" id="27"/>
          <p:cNvSpPr txBox="true"/>
          <p:nvPr/>
        </p:nvSpPr>
        <p:spPr>
          <a:xfrm rot="0">
            <a:off x="7278963" y="4179589"/>
            <a:ext cx="4168225" cy="733425"/>
          </a:xfrm>
          <a:prstGeom prst="rect">
            <a:avLst/>
          </a:prstGeom>
        </p:spPr>
        <p:txBody>
          <a:bodyPr anchor="t" rtlCol="false" tIns="0" lIns="0" bIns="0" rIns="0">
            <a:spAutoFit/>
          </a:bodyPr>
          <a:lstStyle/>
          <a:p>
            <a:pPr algn="l" marL="472931" indent="-236466" lvl="1">
              <a:lnSpc>
                <a:spcPts val="2628"/>
              </a:lnSpc>
              <a:buAutoNum type="arabicPeriod" startAt="1"/>
            </a:pPr>
            <a:r>
              <a:rPr lang="en-US" sz="2190">
                <a:solidFill>
                  <a:srgbClr val="FFFFFF"/>
                </a:solidFill>
                <a:latin typeface="Agrandir"/>
                <a:ea typeface="Agrandir"/>
                <a:cs typeface="Agrandir"/>
                <a:sym typeface="Agrandir"/>
              </a:rPr>
              <a:t>Capturas</a:t>
            </a:r>
          </a:p>
          <a:p>
            <a:pPr algn="l">
              <a:lnSpc>
                <a:spcPts val="2628"/>
              </a:lnSpc>
            </a:pPr>
            <a:r>
              <a:rPr lang="en-US" sz="2190">
                <a:solidFill>
                  <a:srgbClr val="FFFFFF"/>
                </a:solidFill>
                <a:latin typeface="Agrandir"/>
                <a:ea typeface="Agrandir"/>
                <a:cs typeface="Agrandir"/>
                <a:sym typeface="Agrandir"/>
              </a:rPr>
              <a:t> (ej. exd5, Nxf3).</a:t>
            </a:r>
          </a:p>
        </p:txBody>
      </p:sp>
      <p:sp>
        <p:nvSpPr>
          <p:cNvPr name="TextBox 28" id="28"/>
          <p:cNvSpPr txBox="true"/>
          <p:nvPr/>
        </p:nvSpPr>
        <p:spPr>
          <a:xfrm rot="0">
            <a:off x="7147007" y="5632368"/>
            <a:ext cx="2708424" cy="1400175"/>
          </a:xfrm>
          <a:prstGeom prst="rect">
            <a:avLst/>
          </a:prstGeom>
        </p:spPr>
        <p:txBody>
          <a:bodyPr anchor="t" rtlCol="false" tIns="0" lIns="0" bIns="0" rIns="0">
            <a:spAutoFit/>
          </a:bodyPr>
          <a:lstStyle/>
          <a:p>
            <a:pPr algn="ctr">
              <a:lnSpc>
                <a:spcPts val="2628"/>
              </a:lnSpc>
            </a:pPr>
            <a:r>
              <a:rPr lang="en-US" sz="2190">
                <a:solidFill>
                  <a:srgbClr val="FFFFFF"/>
                </a:solidFill>
                <a:latin typeface="Agrandir"/>
                <a:ea typeface="Agrandir"/>
                <a:cs typeface="Agrandir"/>
                <a:sym typeface="Agrandir"/>
              </a:rPr>
              <a:t>4.Enroques corto (O-O) y largo (O-O-O).</a:t>
            </a:r>
          </a:p>
          <a:p>
            <a:pPr algn="l">
              <a:lnSpc>
                <a:spcPts val="2628"/>
              </a:lnSpc>
            </a:pPr>
          </a:p>
        </p:txBody>
      </p:sp>
      <p:sp>
        <p:nvSpPr>
          <p:cNvPr name="TextBox 29" id="29"/>
          <p:cNvSpPr txBox="true"/>
          <p:nvPr/>
        </p:nvSpPr>
        <p:spPr>
          <a:xfrm rot="0">
            <a:off x="2081168" y="1908863"/>
            <a:ext cx="8047895" cy="1668928"/>
          </a:xfrm>
          <a:prstGeom prst="rect">
            <a:avLst/>
          </a:prstGeom>
        </p:spPr>
        <p:txBody>
          <a:bodyPr anchor="t" rtlCol="false" tIns="0" lIns="0" bIns="0" rIns="0">
            <a:spAutoFit/>
          </a:bodyPr>
          <a:lstStyle/>
          <a:p>
            <a:pPr algn="ctr">
              <a:lnSpc>
                <a:spcPts val="6711"/>
              </a:lnSpc>
              <a:spcBef>
                <a:spcPct val="0"/>
              </a:spcBef>
            </a:pPr>
            <a:r>
              <a:rPr lang="en-US" sz="4794">
                <a:solidFill>
                  <a:srgbClr val="FFFFFF"/>
                </a:solidFill>
                <a:latin typeface="Shrikhand"/>
                <a:ea typeface="Shrikhand"/>
                <a:cs typeface="Shrikhand"/>
                <a:sym typeface="Shrikhand"/>
              </a:rPr>
              <a:t>El subconjunto de movimientos elegidos</a:t>
            </a:r>
          </a:p>
        </p:txBody>
      </p:sp>
      <p:sp>
        <p:nvSpPr>
          <p:cNvPr name="TextBox 30" id="30"/>
          <p:cNvSpPr txBox="true"/>
          <p:nvPr/>
        </p:nvSpPr>
        <p:spPr>
          <a:xfrm rot="0">
            <a:off x="2475617" y="7068807"/>
            <a:ext cx="2991256" cy="1400175"/>
          </a:xfrm>
          <a:prstGeom prst="rect">
            <a:avLst/>
          </a:prstGeom>
        </p:spPr>
        <p:txBody>
          <a:bodyPr anchor="t" rtlCol="false" tIns="0" lIns="0" bIns="0" rIns="0">
            <a:spAutoFit/>
          </a:bodyPr>
          <a:lstStyle/>
          <a:p>
            <a:pPr algn="ctr">
              <a:lnSpc>
                <a:spcPts val="2628"/>
              </a:lnSpc>
            </a:pPr>
            <a:r>
              <a:rPr lang="en-US" sz="2190">
                <a:solidFill>
                  <a:srgbClr val="FFFFFF"/>
                </a:solidFill>
                <a:latin typeface="Agrandir"/>
                <a:ea typeface="Agrandir"/>
                <a:cs typeface="Agrandir"/>
                <a:sym typeface="Agrandir"/>
              </a:rPr>
              <a:t>5.Desambiguación de origen</a:t>
            </a:r>
          </a:p>
          <a:p>
            <a:pPr algn="ctr">
              <a:lnSpc>
                <a:spcPts val="2628"/>
              </a:lnSpc>
            </a:pPr>
            <a:r>
              <a:rPr lang="en-US" sz="2190">
                <a:solidFill>
                  <a:srgbClr val="FFFFFF"/>
                </a:solidFill>
                <a:latin typeface="Agrandir"/>
                <a:ea typeface="Agrandir"/>
                <a:cs typeface="Agrandir"/>
                <a:sym typeface="Agrandir"/>
              </a:rPr>
              <a:t> (ej. Nbd2, R1e4).</a:t>
            </a:r>
          </a:p>
          <a:p>
            <a:pPr algn="just">
              <a:lnSpc>
                <a:spcPts val="2628"/>
              </a:lnSpc>
            </a:pPr>
          </a:p>
        </p:txBody>
      </p:sp>
      <p:sp>
        <p:nvSpPr>
          <p:cNvPr name="TextBox 31" id="31"/>
          <p:cNvSpPr txBox="true"/>
          <p:nvPr/>
        </p:nvSpPr>
        <p:spPr>
          <a:xfrm rot="0">
            <a:off x="7137807" y="7068807"/>
            <a:ext cx="2991256" cy="1066800"/>
          </a:xfrm>
          <a:prstGeom prst="rect">
            <a:avLst/>
          </a:prstGeom>
        </p:spPr>
        <p:txBody>
          <a:bodyPr anchor="t" rtlCol="false" tIns="0" lIns="0" bIns="0" rIns="0">
            <a:spAutoFit/>
          </a:bodyPr>
          <a:lstStyle/>
          <a:p>
            <a:pPr algn="ctr">
              <a:lnSpc>
                <a:spcPts val="2628"/>
              </a:lnSpc>
            </a:pPr>
            <a:r>
              <a:rPr lang="en-US" sz="2190">
                <a:solidFill>
                  <a:srgbClr val="FFFFFF"/>
                </a:solidFill>
                <a:latin typeface="Agrandir"/>
                <a:ea typeface="Agrandir"/>
                <a:cs typeface="Agrandir"/>
                <a:sym typeface="Agrandir"/>
              </a:rPr>
              <a:t>6.Jaques (+) y mate (#) opcionales al final.</a:t>
            </a:r>
          </a:p>
          <a:p>
            <a:pPr algn="just">
              <a:lnSpc>
                <a:spcPts val="2628"/>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127992" y="4869808"/>
            <a:ext cx="7720733" cy="3659689"/>
            <a:chOff x="0" y="0"/>
            <a:chExt cx="1196144" cy="566982"/>
          </a:xfrm>
        </p:grpSpPr>
        <p:sp>
          <p:nvSpPr>
            <p:cNvPr name="Freeform 4" id="4"/>
            <p:cNvSpPr/>
            <p:nvPr/>
          </p:nvSpPr>
          <p:spPr>
            <a:xfrm flipH="false" flipV="false" rot="0">
              <a:off x="0" y="0"/>
              <a:ext cx="1196144" cy="566982"/>
            </a:xfrm>
            <a:custGeom>
              <a:avLst/>
              <a:gdLst/>
              <a:ahLst/>
              <a:cxnLst/>
              <a:rect r="r" b="b" t="t" l="l"/>
              <a:pathLst>
                <a:path h="566982" w="1196144">
                  <a:moveTo>
                    <a:pt x="23063" y="0"/>
                  </a:moveTo>
                  <a:lnTo>
                    <a:pt x="1173080" y="0"/>
                  </a:lnTo>
                  <a:cubicBezTo>
                    <a:pt x="1179197" y="0"/>
                    <a:pt x="1185063" y="2430"/>
                    <a:pt x="1189389" y="6755"/>
                  </a:cubicBezTo>
                  <a:cubicBezTo>
                    <a:pt x="1193714" y="11080"/>
                    <a:pt x="1196144" y="16946"/>
                    <a:pt x="1196144" y="23063"/>
                  </a:cubicBezTo>
                  <a:lnTo>
                    <a:pt x="1196144" y="543918"/>
                  </a:lnTo>
                  <a:cubicBezTo>
                    <a:pt x="1196144" y="556656"/>
                    <a:pt x="1185818" y="566982"/>
                    <a:pt x="1173080" y="566982"/>
                  </a:cubicBezTo>
                  <a:lnTo>
                    <a:pt x="23063" y="566982"/>
                  </a:lnTo>
                  <a:cubicBezTo>
                    <a:pt x="10326" y="566982"/>
                    <a:pt x="0" y="556656"/>
                    <a:pt x="0" y="543918"/>
                  </a:cubicBezTo>
                  <a:lnTo>
                    <a:pt x="0" y="23063"/>
                  </a:lnTo>
                  <a:cubicBezTo>
                    <a:pt x="0" y="10326"/>
                    <a:pt x="10326" y="0"/>
                    <a:pt x="23063" y="0"/>
                  </a:cubicBezTo>
                  <a:close/>
                </a:path>
              </a:pathLst>
            </a:custGeom>
            <a:blipFill>
              <a:blip r:embed="rId3"/>
              <a:stretch>
                <a:fillRect l="0" t="-13481" r="0" b="-13481"/>
              </a:stretch>
            </a:blipFill>
            <a:ln w="76200" cap="rnd">
              <a:gradFill>
                <a:gsLst>
                  <a:gs pos="0">
                    <a:srgbClr val="036E99">
                      <a:alpha val="100000"/>
                    </a:srgbClr>
                  </a:gs>
                  <a:gs pos="100000">
                    <a:srgbClr val="0078A8">
                      <a:alpha val="0"/>
                    </a:srgbClr>
                  </a:gs>
                </a:gsLst>
                <a:lin ang="0"/>
              </a:gradFill>
              <a:prstDash val="solid"/>
              <a:round/>
            </a:ln>
          </p:spPr>
        </p:sp>
      </p:grpSp>
      <p:grpSp>
        <p:nvGrpSpPr>
          <p:cNvPr name="Group 5" id="5"/>
          <p:cNvGrpSpPr/>
          <p:nvPr/>
        </p:nvGrpSpPr>
        <p:grpSpPr>
          <a:xfrm rot="0">
            <a:off x="9429750" y="2195241"/>
            <a:ext cx="610341" cy="6103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542894" y="4054556"/>
            <a:ext cx="610341" cy="6103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542894" y="6930958"/>
            <a:ext cx="610341" cy="61034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3542894" y="1685283"/>
            <a:ext cx="610341" cy="61034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676354" y="1257431"/>
            <a:ext cx="6419896" cy="1669034"/>
          </a:xfrm>
          <a:prstGeom prst="rect">
            <a:avLst/>
          </a:prstGeom>
        </p:spPr>
        <p:txBody>
          <a:bodyPr anchor="t" rtlCol="false" tIns="0" lIns="0" bIns="0" rIns="0">
            <a:spAutoFit/>
          </a:bodyPr>
          <a:lstStyle/>
          <a:p>
            <a:pPr algn="ctr">
              <a:lnSpc>
                <a:spcPts val="6706"/>
              </a:lnSpc>
              <a:spcBef>
                <a:spcPct val="0"/>
              </a:spcBef>
            </a:pPr>
            <a:r>
              <a:rPr lang="en-US" sz="4790">
                <a:solidFill>
                  <a:srgbClr val="FFFFFF"/>
                </a:solidFill>
                <a:latin typeface="Shrikhand"/>
                <a:ea typeface="Shrikhand"/>
                <a:cs typeface="Shrikhand"/>
                <a:sym typeface="Shrikhand"/>
              </a:rPr>
              <a:t>La Expresión Regular Diseñada</a:t>
            </a:r>
          </a:p>
        </p:txBody>
      </p:sp>
      <p:sp>
        <p:nvSpPr>
          <p:cNvPr name="TextBox 18" id="18"/>
          <p:cNvSpPr txBox="true"/>
          <p:nvPr/>
        </p:nvSpPr>
        <p:spPr>
          <a:xfrm rot="0">
            <a:off x="10331528" y="2219424"/>
            <a:ext cx="1877866" cy="485775"/>
          </a:xfrm>
          <a:prstGeom prst="rect">
            <a:avLst/>
          </a:prstGeom>
        </p:spPr>
        <p:txBody>
          <a:bodyPr anchor="t" rtlCol="false" tIns="0" lIns="0" bIns="0" rIns="0">
            <a:spAutoFit/>
          </a:bodyPr>
          <a:lstStyle/>
          <a:p>
            <a:pPr algn="just">
              <a:lnSpc>
                <a:spcPts val="3228"/>
              </a:lnSpc>
            </a:pPr>
            <a:r>
              <a:rPr lang="en-US" sz="2690" b="true">
                <a:solidFill>
                  <a:srgbClr val="FFFFFF"/>
                </a:solidFill>
                <a:latin typeface="Agrandir Bold"/>
                <a:ea typeface="Agrandir Bold"/>
                <a:cs typeface="Agrandir Bold"/>
                <a:sym typeface="Agrandir Bold"/>
              </a:rPr>
              <a:t>[KQRBN]?: </a:t>
            </a:r>
          </a:p>
        </p:txBody>
      </p:sp>
      <p:sp>
        <p:nvSpPr>
          <p:cNvPr name="TextBox 19" id="19"/>
          <p:cNvSpPr txBox="true"/>
          <p:nvPr/>
        </p:nvSpPr>
        <p:spPr>
          <a:xfrm rot="0">
            <a:off x="10331528" y="2729043"/>
            <a:ext cx="2934390" cy="1165800"/>
          </a:xfrm>
          <a:prstGeom prst="rect">
            <a:avLst/>
          </a:prstGeom>
        </p:spPr>
        <p:txBody>
          <a:bodyPr anchor="t" rtlCol="false" tIns="0" lIns="0" bIns="0" rIns="0">
            <a:spAutoFit/>
          </a:bodyPr>
          <a:lstStyle/>
          <a:p>
            <a:pPr algn="just">
              <a:lnSpc>
                <a:spcPts val="2943"/>
              </a:lnSpc>
              <a:spcBef>
                <a:spcPct val="0"/>
              </a:spcBef>
            </a:pPr>
            <a:r>
              <a:rPr lang="en-US" sz="2102">
                <a:solidFill>
                  <a:srgbClr val="FFFFFF"/>
                </a:solidFill>
                <a:latin typeface="Agrandir"/>
                <a:ea typeface="Agrandir"/>
                <a:cs typeface="Agrandir"/>
                <a:sym typeface="Agrandir"/>
              </a:rPr>
              <a:t>Busca la pieza inicial (si no hay, asume que es un peón).</a:t>
            </a:r>
          </a:p>
        </p:txBody>
      </p:sp>
      <p:sp>
        <p:nvSpPr>
          <p:cNvPr name="TextBox 20" id="20"/>
          <p:cNvSpPr txBox="true"/>
          <p:nvPr/>
        </p:nvSpPr>
        <p:spPr>
          <a:xfrm rot="0">
            <a:off x="14444714" y="1071693"/>
            <a:ext cx="4459823" cy="485775"/>
          </a:xfrm>
          <a:prstGeom prst="rect">
            <a:avLst/>
          </a:prstGeom>
        </p:spPr>
        <p:txBody>
          <a:bodyPr anchor="t" rtlCol="false" tIns="0" lIns="0" bIns="0" rIns="0">
            <a:spAutoFit/>
          </a:bodyPr>
          <a:lstStyle/>
          <a:p>
            <a:pPr algn="just">
              <a:lnSpc>
                <a:spcPts val="3228"/>
              </a:lnSpc>
            </a:pPr>
            <a:r>
              <a:rPr lang="en-US" sz="2690" b="true">
                <a:solidFill>
                  <a:srgbClr val="FFFFFF"/>
                </a:solidFill>
                <a:latin typeface="Agrandir Bold"/>
                <a:ea typeface="Agrandir Bold"/>
                <a:cs typeface="Agrandir Bold"/>
                <a:sym typeface="Agrandir Bold"/>
              </a:rPr>
              <a:t>[a-h]?[1-8]?: </a:t>
            </a:r>
          </a:p>
        </p:txBody>
      </p:sp>
      <p:sp>
        <p:nvSpPr>
          <p:cNvPr name="TextBox 21" id="21"/>
          <p:cNvSpPr txBox="true"/>
          <p:nvPr/>
        </p:nvSpPr>
        <p:spPr>
          <a:xfrm rot="0">
            <a:off x="14438244" y="1660336"/>
            <a:ext cx="2934390" cy="1165800"/>
          </a:xfrm>
          <a:prstGeom prst="rect">
            <a:avLst/>
          </a:prstGeom>
        </p:spPr>
        <p:txBody>
          <a:bodyPr anchor="t" rtlCol="false" tIns="0" lIns="0" bIns="0" rIns="0">
            <a:spAutoFit/>
          </a:bodyPr>
          <a:lstStyle/>
          <a:p>
            <a:pPr algn="l">
              <a:lnSpc>
                <a:spcPts val="2943"/>
              </a:lnSpc>
              <a:spcBef>
                <a:spcPct val="0"/>
              </a:spcBef>
            </a:pPr>
            <a:r>
              <a:rPr lang="en-US" sz="2102">
                <a:solidFill>
                  <a:srgbClr val="FFFFFF"/>
                </a:solidFill>
                <a:latin typeface="Agrandir"/>
                <a:ea typeface="Agrandir"/>
                <a:cs typeface="Agrandir"/>
                <a:sym typeface="Agrandir"/>
              </a:rPr>
              <a:t>Es la desambiguación opcional (columna o fila de origen).</a:t>
            </a:r>
          </a:p>
        </p:txBody>
      </p:sp>
      <p:sp>
        <p:nvSpPr>
          <p:cNvPr name="TextBox 22" id="22"/>
          <p:cNvSpPr txBox="true"/>
          <p:nvPr/>
        </p:nvSpPr>
        <p:spPr>
          <a:xfrm rot="0">
            <a:off x="14438244" y="6750353"/>
            <a:ext cx="4113186" cy="485775"/>
          </a:xfrm>
          <a:prstGeom prst="rect">
            <a:avLst/>
          </a:prstGeom>
        </p:spPr>
        <p:txBody>
          <a:bodyPr anchor="t" rtlCol="false" tIns="0" lIns="0" bIns="0" rIns="0">
            <a:spAutoFit/>
          </a:bodyPr>
          <a:lstStyle/>
          <a:p>
            <a:pPr algn="just">
              <a:lnSpc>
                <a:spcPts val="3228"/>
              </a:lnSpc>
            </a:pPr>
            <a:r>
              <a:rPr lang="en-US" sz="2690" b="true">
                <a:solidFill>
                  <a:srgbClr val="FFFFFF"/>
                </a:solidFill>
                <a:latin typeface="Agrandir Bold"/>
                <a:ea typeface="Agrandir Bold"/>
                <a:cs typeface="Agrandir Bold"/>
                <a:sym typeface="Agrandir Bold"/>
              </a:rPr>
              <a:t>(=[QRBN])?: </a:t>
            </a:r>
          </a:p>
        </p:txBody>
      </p:sp>
      <p:sp>
        <p:nvSpPr>
          <p:cNvPr name="TextBox 23" id="23"/>
          <p:cNvSpPr txBox="true"/>
          <p:nvPr/>
        </p:nvSpPr>
        <p:spPr>
          <a:xfrm rot="0">
            <a:off x="14444714" y="4446957"/>
            <a:ext cx="3123477" cy="422850"/>
          </a:xfrm>
          <a:prstGeom prst="rect">
            <a:avLst/>
          </a:prstGeom>
        </p:spPr>
        <p:txBody>
          <a:bodyPr anchor="t" rtlCol="false" tIns="0" lIns="0" bIns="0" rIns="0">
            <a:spAutoFit/>
          </a:bodyPr>
          <a:lstStyle/>
          <a:p>
            <a:pPr algn="just">
              <a:lnSpc>
                <a:spcPts val="2943"/>
              </a:lnSpc>
              <a:spcBef>
                <a:spcPct val="0"/>
              </a:spcBef>
            </a:pPr>
            <a:r>
              <a:rPr lang="en-US" sz="2102">
                <a:solidFill>
                  <a:srgbClr val="FFFFFF"/>
                </a:solidFill>
                <a:latin typeface="Agrandir"/>
                <a:ea typeface="Agrandir"/>
                <a:cs typeface="Agrandir"/>
                <a:sym typeface="Agrandir"/>
              </a:rPr>
              <a:t>Revisa si hubo captura.</a:t>
            </a:r>
          </a:p>
        </p:txBody>
      </p:sp>
      <p:sp>
        <p:nvSpPr>
          <p:cNvPr name="TextBox 24" id="24"/>
          <p:cNvSpPr txBox="true"/>
          <p:nvPr/>
        </p:nvSpPr>
        <p:spPr>
          <a:xfrm rot="0">
            <a:off x="2118179" y="3113199"/>
            <a:ext cx="5686305" cy="1796990"/>
          </a:xfrm>
          <a:prstGeom prst="rect">
            <a:avLst/>
          </a:prstGeom>
        </p:spPr>
        <p:txBody>
          <a:bodyPr anchor="t" rtlCol="false" tIns="0" lIns="0" bIns="0" rIns="0">
            <a:spAutoFit/>
          </a:bodyPr>
          <a:lstStyle/>
          <a:p>
            <a:pPr algn="just">
              <a:lnSpc>
                <a:spcPts val="2803"/>
              </a:lnSpc>
            </a:pPr>
            <a:r>
              <a:rPr lang="en-US" sz="2002">
                <a:solidFill>
                  <a:srgbClr val="FFFFFF"/>
                </a:solidFill>
                <a:latin typeface="Agrandir"/>
                <a:ea typeface="Agrandir"/>
                <a:cs typeface="Agrandir"/>
                <a:sym typeface="Agrandir"/>
              </a:rPr>
              <a:t>Tenemos un gran bloque dividido por un "O" lógico (|): La primera mitad valida movimientos normales y la segunda mitad valida enroques (O-O(-O)?).</a:t>
            </a:r>
          </a:p>
          <a:p>
            <a:pPr algn="just">
              <a:lnSpc>
                <a:spcPts val="2803"/>
              </a:lnSpc>
              <a:spcBef>
                <a:spcPct val="0"/>
              </a:spcBef>
            </a:pPr>
          </a:p>
        </p:txBody>
      </p:sp>
      <p:sp>
        <p:nvSpPr>
          <p:cNvPr name="TextBox 25" id="25"/>
          <p:cNvSpPr txBox="true"/>
          <p:nvPr/>
        </p:nvSpPr>
        <p:spPr>
          <a:xfrm rot="0">
            <a:off x="14552217" y="3873952"/>
            <a:ext cx="4113186" cy="485775"/>
          </a:xfrm>
          <a:prstGeom prst="rect">
            <a:avLst/>
          </a:prstGeom>
        </p:spPr>
        <p:txBody>
          <a:bodyPr anchor="t" rtlCol="false" tIns="0" lIns="0" bIns="0" rIns="0">
            <a:spAutoFit/>
          </a:bodyPr>
          <a:lstStyle/>
          <a:p>
            <a:pPr algn="just">
              <a:lnSpc>
                <a:spcPts val="3228"/>
              </a:lnSpc>
            </a:pPr>
            <a:r>
              <a:rPr lang="en-US" sz="2690" b="true">
                <a:solidFill>
                  <a:srgbClr val="FFFFFF"/>
                </a:solidFill>
                <a:latin typeface="Agrandir Bold"/>
                <a:ea typeface="Agrandir Bold"/>
                <a:cs typeface="Agrandir Bold"/>
                <a:sym typeface="Agrandir Bold"/>
              </a:rPr>
              <a:t>x?: </a:t>
            </a:r>
          </a:p>
        </p:txBody>
      </p:sp>
      <p:sp>
        <p:nvSpPr>
          <p:cNvPr name="TextBox 26" id="26"/>
          <p:cNvSpPr txBox="true"/>
          <p:nvPr/>
        </p:nvSpPr>
        <p:spPr>
          <a:xfrm rot="0">
            <a:off x="14438244" y="7296536"/>
            <a:ext cx="2934390" cy="794325"/>
          </a:xfrm>
          <a:prstGeom prst="rect">
            <a:avLst/>
          </a:prstGeom>
        </p:spPr>
        <p:txBody>
          <a:bodyPr anchor="t" rtlCol="false" tIns="0" lIns="0" bIns="0" rIns="0">
            <a:spAutoFit/>
          </a:bodyPr>
          <a:lstStyle/>
          <a:p>
            <a:pPr algn="just">
              <a:lnSpc>
                <a:spcPts val="2943"/>
              </a:lnSpc>
              <a:spcBef>
                <a:spcPct val="0"/>
              </a:spcBef>
            </a:pPr>
            <a:r>
              <a:rPr lang="en-US" sz="2102">
                <a:solidFill>
                  <a:srgbClr val="FFFFFF"/>
                </a:solidFill>
                <a:latin typeface="Agrandir"/>
                <a:ea typeface="Agrandir"/>
                <a:cs typeface="Agrandir"/>
                <a:sym typeface="Agrandir"/>
              </a:rPr>
              <a:t>Revisa si hay una promoción opcional.</a:t>
            </a:r>
          </a:p>
        </p:txBody>
      </p:sp>
      <p:grpSp>
        <p:nvGrpSpPr>
          <p:cNvPr name="Group 27" id="27"/>
          <p:cNvGrpSpPr/>
          <p:nvPr/>
        </p:nvGrpSpPr>
        <p:grpSpPr>
          <a:xfrm rot="0">
            <a:off x="9429750" y="8105512"/>
            <a:ext cx="610341" cy="61034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30" id="30"/>
          <p:cNvSpPr txBox="true"/>
          <p:nvPr/>
        </p:nvSpPr>
        <p:spPr>
          <a:xfrm rot="0">
            <a:off x="10331528" y="7465099"/>
            <a:ext cx="4113186" cy="485775"/>
          </a:xfrm>
          <a:prstGeom prst="rect">
            <a:avLst/>
          </a:prstGeom>
        </p:spPr>
        <p:txBody>
          <a:bodyPr anchor="t" rtlCol="false" tIns="0" lIns="0" bIns="0" rIns="0">
            <a:spAutoFit/>
          </a:bodyPr>
          <a:lstStyle/>
          <a:p>
            <a:pPr algn="just">
              <a:lnSpc>
                <a:spcPts val="3228"/>
              </a:lnSpc>
            </a:pPr>
            <a:r>
              <a:rPr lang="en-US" sz="2690" b="true">
                <a:solidFill>
                  <a:srgbClr val="FFFFFF"/>
                </a:solidFill>
                <a:latin typeface="Agrandir Bold"/>
                <a:ea typeface="Agrandir Bold"/>
                <a:cs typeface="Agrandir Bold"/>
                <a:sym typeface="Agrandir Bold"/>
              </a:rPr>
              <a:t> [+#]? </a:t>
            </a:r>
          </a:p>
        </p:txBody>
      </p:sp>
      <p:sp>
        <p:nvSpPr>
          <p:cNvPr name="TextBox 31" id="31"/>
          <p:cNvSpPr txBox="true"/>
          <p:nvPr/>
        </p:nvSpPr>
        <p:spPr>
          <a:xfrm rot="0">
            <a:off x="10331528" y="8000737"/>
            <a:ext cx="2934390" cy="794325"/>
          </a:xfrm>
          <a:prstGeom prst="rect">
            <a:avLst/>
          </a:prstGeom>
        </p:spPr>
        <p:txBody>
          <a:bodyPr anchor="t" rtlCol="false" tIns="0" lIns="0" bIns="0" rIns="0">
            <a:spAutoFit/>
          </a:bodyPr>
          <a:lstStyle/>
          <a:p>
            <a:pPr algn="just">
              <a:lnSpc>
                <a:spcPts val="2943"/>
              </a:lnSpc>
              <a:spcBef>
                <a:spcPct val="0"/>
              </a:spcBef>
            </a:pPr>
            <a:r>
              <a:rPr lang="en-US" sz="2102">
                <a:solidFill>
                  <a:srgbClr val="FFFFFF"/>
                </a:solidFill>
                <a:latin typeface="Agrandir"/>
                <a:ea typeface="Agrandir"/>
                <a:cs typeface="Agrandir"/>
                <a:sym typeface="Agrandir"/>
              </a:rPr>
              <a:t>Revisa si hay una promoción opcional.</a:t>
            </a:r>
          </a:p>
        </p:txBody>
      </p:sp>
      <p:grpSp>
        <p:nvGrpSpPr>
          <p:cNvPr name="Group 32" id="32"/>
          <p:cNvGrpSpPr/>
          <p:nvPr/>
        </p:nvGrpSpPr>
        <p:grpSpPr>
          <a:xfrm rot="0">
            <a:off x="9429750" y="5017594"/>
            <a:ext cx="610341" cy="610341"/>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33350" cap="sq">
              <a:gradFill>
                <a:gsLst>
                  <a:gs pos="0">
                    <a:srgbClr val="B4EAFF">
                      <a:alpha val="63000"/>
                    </a:srgbClr>
                  </a:gs>
                  <a:gs pos="100000">
                    <a:srgbClr val="0078A8">
                      <a:alpha val="0"/>
                    </a:srgbClr>
                  </a:gs>
                </a:gsLst>
                <a:lin ang="0"/>
              </a:gradFill>
              <a:prstDash val="solid"/>
              <a:miter/>
            </a:ln>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35" id="35"/>
          <p:cNvSpPr txBox="true"/>
          <p:nvPr/>
        </p:nvSpPr>
        <p:spPr>
          <a:xfrm rot="0">
            <a:off x="10331528" y="5041777"/>
            <a:ext cx="1877866" cy="485775"/>
          </a:xfrm>
          <a:prstGeom prst="rect">
            <a:avLst/>
          </a:prstGeom>
        </p:spPr>
        <p:txBody>
          <a:bodyPr anchor="t" rtlCol="false" tIns="0" lIns="0" bIns="0" rIns="0">
            <a:spAutoFit/>
          </a:bodyPr>
          <a:lstStyle/>
          <a:p>
            <a:pPr algn="just">
              <a:lnSpc>
                <a:spcPts val="3228"/>
              </a:lnSpc>
            </a:pPr>
            <a:r>
              <a:rPr lang="en-US" sz="2690" b="true">
                <a:solidFill>
                  <a:srgbClr val="FFFFFF"/>
                </a:solidFill>
                <a:latin typeface="Agrandir Bold"/>
                <a:ea typeface="Agrandir Bold"/>
                <a:cs typeface="Agrandir Bold"/>
                <a:sym typeface="Agrandir Bold"/>
              </a:rPr>
              <a:t>[a-h][1-8]: </a:t>
            </a:r>
          </a:p>
        </p:txBody>
      </p:sp>
      <p:sp>
        <p:nvSpPr>
          <p:cNvPr name="TextBox 36" id="36"/>
          <p:cNvSpPr txBox="true"/>
          <p:nvPr/>
        </p:nvSpPr>
        <p:spPr>
          <a:xfrm rot="0">
            <a:off x="10503785" y="5563258"/>
            <a:ext cx="2762133" cy="1537275"/>
          </a:xfrm>
          <a:prstGeom prst="rect">
            <a:avLst/>
          </a:prstGeom>
        </p:spPr>
        <p:txBody>
          <a:bodyPr anchor="t" rtlCol="false" tIns="0" lIns="0" bIns="0" rIns="0">
            <a:spAutoFit/>
          </a:bodyPr>
          <a:lstStyle/>
          <a:p>
            <a:pPr algn="just">
              <a:lnSpc>
                <a:spcPts val="2943"/>
              </a:lnSpc>
              <a:spcBef>
                <a:spcPct val="0"/>
              </a:spcBef>
            </a:pPr>
            <a:r>
              <a:rPr lang="en-US" sz="2102">
                <a:solidFill>
                  <a:srgbClr val="FFFFFF"/>
                </a:solidFill>
                <a:latin typeface="Agrandir"/>
                <a:ea typeface="Agrandir"/>
                <a:cs typeface="Agrandir"/>
                <a:sym typeface="Agrandir"/>
              </a:rPr>
              <a:t>Es el corazón de la expresión, la casilla de destino obligatoria.</a:t>
            </a:r>
          </a:p>
          <a:p>
            <a:pPr algn="just">
              <a:lnSpc>
                <a:spcPts val="2943"/>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0540962" y="2179939"/>
            <a:ext cx="6718338" cy="2689074"/>
            <a:chOff x="0" y="0"/>
            <a:chExt cx="1769439" cy="708234"/>
          </a:xfrm>
        </p:grpSpPr>
        <p:sp>
          <p:nvSpPr>
            <p:cNvPr name="Freeform 4" id="4"/>
            <p:cNvSpPr/>
            <p:nvPr/>
          </p:nvSpPr>
          <p:spPr>
            <a:xfrm flipH="false" flipV="false" rot="0">
              <a:off x="0" y="0"/>
              <a:ext cx="1769439" cy="708234"/>
            </a:xfrm>
            <a:custGeom>
              <a:avLst/>
              <a:gdLst/>
              <a:ahLst/>
              <a:cxnLst/>
              <a:rect r="r" b="b" t="t" l="l"/>
              <a:pathLst>
                <a:path h="708234" w="1769439">
                  <a:moveTo>
                    <a:pt x="55313" y="0"/>
                  </a:moveTo>
                  <a:lnTo>
                    <a:pt x="1714126" y="0"/>
                  </a:lnTo>
                  <a:cubicBezTo>
                    <a:pt x="1728796" y="0"/>
                    <a:pt x="1742865" y="5828"/>
                    <a:pt x="1753238" y="16201"/>
                  </a:cubicBezTo>
                  <a:cubicBezTo>
                    <a:pt x="1763611" y="26574"/>
                    <a:pt x="1769439" y="40643"/>
                    <a:pt x="1769439" y="55313"/>
                  </a:cubicBezTo>
                  <a:lnTo>
                    <a:pt x="1769439" y="652920"/>
                  </a:lnTo>
                  <a:cubicBezTo>
                    <a:pt x="1769439" y="683469"/>
                    <a:pt x="1744674" y="708234"/>
                    <a:pt x="1714126" y="708234"/>
                  </a:cubicBezTo>
                  <a:lnTo>
                    <a:pt x="55313" y="708234"/>
                  </a:lnTo>
                  <a:cubicBezTo>
                    <a:pt x="40643" y="708234"/>
                    <a:pt x="26574" y="702406"/>
                    <a:pt x="16201" y="692033"/>
                  </a:cubicBezTo>
                  <a:cubicBezTo>
                    <a:pt x="5828" y="681660"/>
                    <a:pt x="0" y="667590"/>
                    <a:pt x="0" y="652920"/>
                  </a:cubicBezTo>
                  <a:lnTo>
                    <a:pt x="0" y="55313"/>
                  </a:lnTo>
                  <a:cubicBezTo>
                    <a:pt x="0" y="40643"/>
                    <a:pt x="5828" y="26574"/>
                    <a:pt x="16201" y="16201"/>
                  </a:cubicBezTo>
                  <a:cubicBezTo>
                    <a:pt x="26574" y="5828"/>
                    <a:pt x="40643" y="0"/>
                    <a:pt x="55313"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5" id="5"/>
            <p:cNvSpPr txBox="true"/>
            <p:nvPr/>
          </p:nvSpPr>
          <p:spPr>
            <a:xfrm>
              <a:off x="0" y="-85725"/>
              <a:ext cx="1769439" cy="793959"/>
            </a:xfrm>
            <a:prstGeom prst="rect">
              <a:avLst/>
            </a:prstGeom>
          </p:spPr>
          <p:txBody>
            <a:bodyPr anchor="ctr" rtlCol="false" tIns="50800" lIns="50800" bIns="50800" rIns="50800"/>
            <a:lstStyle/>
            <a:p>
              <a:pPr algn="ctr">
                <a:lnSpc>
                  <a:spcPts val="2663"/>
                </a:lnSpc>
              </a:pPr>
            </a:p>
          </p:txBody>
        </p:sp>
      </p:grpSp>
      <p:grpSp>
        <p:nvGrpSpPr>
          <p:cNvPr name="Group 6" id="6"/>
          <p:cNvGrpSpPr/>
          <p:nvPr/>
        </p:nvGrpSpPr>
        <p:grpSpPr>
          <a:xfrm rot="0">
            <a:off x="10540962" y="5440514"/>
            <a:ext cx="6976860" cy="2689074"/>
            <a:chOff x="0" y="0"/>
            <a:chExt cx="1837527" cy="708234"/>
          </a:xfrm>
        </p:grpSpPr>
        <p:sp>
          <p:nvSpPr>
            <p:cNvPr name="Freeform 7" id="7"/>
            <p:cNvSpPr/>
            <p:nvPr/>
          </p:nvSpPr>
          <p:spPr>
            <a:xfrm flipH="false" flipV="false" rot="0">
              <a:off x="0" y="0"/>
              <a:ext cx="1837527" cy="708234"/>
            </a:xfrm>
            <a:custGeom>
              <a:avLst/>
              <a:gdLst/>
              <a:ahLst/>
              <a:cxnLst/>
              <a:rect r="r" b="b" t="t" l="l"/>
              <a:pathLst>
                <a:path h="708234" w="1837527">
                  <a:moveTo>
                    <a:pt x="53264" y="0"/>
                  </a:moveTo>
                  <a:lnTo>
                    <a:pt x="1784263" y="0"/>
                  </a:lnTo>
                  <a:cubicBezTo>
                    <a:pt x="1798390" y="0"/>
                    <a:pt x="1811937" y="5612"/>
                    <a:pt x="1821926" y="15601"/>
                  </a:cubicBezTo>
                  <a:cubicBezTo>
                    <a:pt x="1831915" y="25589"/>
                    <a:pt x="1837527" y="39137"/>
                    <a:pt x="1837527" y="53264"/>
                  </a:cubicBezTo>
                  <a:lnTo>
                    <a:pt x="1837527" y="654970"/>
                  </a:lnTo>
                  <a:cubicBezTo>
                    <a:pt x="1837527" y="684387"/>
                    <a:pt x="1813680" y="708234"/>
                    <a:pt x="1784263" y="708234"/>
                  </a:cubicBezTo>
                  <a:lnTo>
                    <a:pt x="53264" y="708234"/>
                  </a:lnTo>
                  <a:cubicBezTo>
                    <a:pt x="39137" y="708234"/>
                    <a:pt x="25589" y="702622"/>
                    <a:pt x="15601" y="692633"/>
                  </a:cubicBezTo>
                  <a:cubicBezTo>
                    <a:pt x="5612" y="682644"/>
                    <a:pt x="0" y="669096"/>
                    <a:pt x="0" y="654970"/>
                  </a:cubicBezTo>
                  <a:lnTo>
                    <a:pt x="0" y="53264"/>
                  </a:lnTo>
                  <a:cubicBezTo>
                    <a:pt x="0" y="39137"/>
                    <a:pt x="5612" y="25589"/>
                    <a:pt x="15601" y="15601"/>
                  </a:cubicBezTo>
                  <a:cubicBezTo>
                    <a:pt x="25589" y="5612"/>
                    <a:pt x="39137" y="0"/>
                    <a:pt x="53264" y="0"/>
                  </a:cubicBezTo>
                  <a:close/>
                </a:path>
              </a:pathLst>
            </a:custGeom>
            <a:ln w="104775" cap="rnd">
              <a:gradFill>
                <a:gsLst>
                  <a:gs pos="0">
                    <a:srgbClr val="B4EAFF">
                      <a:alpha val="100000"/>
                    </a:srgbClr>
                  </a:gs>
                  <a:gs pos="100000">
                    <a:srgbClr val="0078A8">
                      <a:alpha val="0"/>
                    </a:srgbClr>
                  </a:gs>
                </a:gsLst>
                <a:lin ang="0"/>
              </a:gradFill>
              <a:prstDash val="solid"/>
              <a:round/>
            </a:ln>
          </p:spPr>
        </p:sp>
        <p:sp>
          <p:nvSpPr>
            <p:cNvPr name="TextBox 8" id="8"/>
            <p:cNvSpPr txBox="true"/>
            <p:nvPr/>
          </p:nvSpPr>
          <p:spPr>
            <a:xfrm>
              <a:off x="0" y="-85725"/>
              <a:ext cx="1837527" cy="793959"/>
            </a:xfrm>
            <a:prstGeom prst="rect">
              <a:avLst/>
            </a:prstGeom>
          </p:spPr>
          <p:txBody>
            <a:bodyPr anchor="ctr" rtlCol="false" tIns="50800" lIns="50800" bIns="50800" rIns="50800"/>
            <a:lstStyle/>
            <a:p>
              <a:pPr algn="ctr">
                <a:lnSpc>
                  <a:spcPts val="2663"/>
                </a:lnSpc>
              </a:pPr>
            </a:p>
          </p:txBody>
        </p:sp>
      </p:grpSp>
      <p:sp>
        <p:nvSpPr>
          <p:cNvPr name="Freeform 9" id="9"/>
          <p:cNvSpPr/>
          <p:nvPr/>
        </p:nvSpPr>
        <p:spPr>
          <a:xfrm flipH="false" flipV="false" rot="0">
            <a:off x="3779130" y="4898713"/>
            <a:ext cx="2595771" cy="4359587"/>
          </a:xfrm>
          <a:custGeom>
            <a:avLst/>
            <a:gdLst/>
            <a:ahLst/>
            <a:cxnLst/>
            <a:rect r="r" b="b" t="t" l="l"/>
            <a:pathLst>
              <a:path h="4359587" w="2595771">
                <a:moveTo>
                  <a:pt x="0" y="0"/>
                </a:moveTo>
                <a:lnTo>
                  <a:pt x="2595771" y="0"/>
                </a:lnTo>
                <a:lnTo>
                  <a:pt x="2595771" y="4359587"/>
                </a:lnTo>
                <a:lnTo>
                  <a:pt x="0" y="4359587"/>
                </a:lnTo>
                <a:lnTo>
                  <a:pt x="0" y="0"/>
                </a:lnTo>
                <a:close/>
              </a:path>
            </a:pathLst>
          </a:custGeom>
          <a:blipFill>
            <a:blip r:embed="rId3"/>
            <a:stretch>
              <a:fillRect l="0" t="0" r="0" b="0"/>
            </a:stretch>
          </a:blipFill>
        </p:spPr>
      </p:sp>
      <p:sp>
        <p:nvSpPr>
          <p:cNvPr name="TextBox 10" id="10"/>
          <p:cNvSpPr txBox="true"/>
          <p:nvPr/>
        </p:nvSpPr>
        <p:spPr>
          <a:xfrm rot="0">
            <a:off x="790956" y="1729332"/>
            <a:ext cx="8572119" cy="3485513"/>
          </a:xfrm>
          <a:prstGeom prst="rect">
            <a:avLst/>
          </a:prstGeom>
        </p:spPr>
        <p:txBody>
          <a:bodyPr anchor="t" rtlCol="false" tIns="0" lIns="0" bIns="0" rIns="0">
            <a:spAutoFit/>
          </a:bodyPr>
          <a:lstStyle/>
          <a:p>
            <a:pPr algn="ctr">
              <a:lnSpc>
                <a:spcPts val="7980"/>
              </a:lnSpc>
            </a:pPr>
            <a:r>
              <a:rPr lang="en-US" sz="5700">
                <a:solidFill>
                  <a:srgbClr val="FFFFFF"/>
                </a:solidFill>
                <a:latin typeface="Shrikhand"/>
                <a:ea typeface="Shrikhand"/>
                <a:cs typeface="Shrikhand"/>
                <a:sym typeface="Shrikhand"/>
              </a:rPr>
              <a:t>Cómo funciona el Autómata Finito Determinístico (AFD)</a:t>
            </a:r>
          </a:p>
          <a:p>
            <a:pPr algn="ctr">
              <a:lnSpc>
                <a:spcPts val="3640"/>
              </a:lnSpc>
              <a:spcBef>
                <a:spcPct val="0"/>
              </a:spcBef>
            </a:pPr>
          </a:p>
        </p:txBody>
      </p:sp>
      <p:sp>
        <p:nvSpPr>
          <p:cNvPr name="TextBox 11" id="11"/>
          <p:cNvSpPr txBox="true"/>
          <p:nvPr/>
        </p:nvSpPr>
        <p:spPr>
          <a:xfrm rot="0">
            <a:off x="10852873" y="2365939"/>
            <a:ext cx="5984319" cy="2651666"/>
          </a:xfrm>
          <a:prstGeom prst="rect">
            <a:avLst/>
          </a:prstGeom>
        </p:spPr>
        <p:txBody>
          <a:bodyPr anchor="t" rtlCol="false" tIns="0" lIns="0" bIns="0" rIns="0">
            <a:spAutoFit/>
          </a:bodyPr>
          <a:lstStyle/>
          <a:p>
            <a:pPr algn="just">
              <a:lnSpc>
                <a:spcPts val="2945"/>
              </a:lnSpc>
            </a:pPr>
            <a:r>
              <a:rPr lang="en-US" sz="2103">
                <a:solidFill>
                  <a:srgbClr val="FFFFFF"/>
                </a:solidFill>
                <a:latin typeface="Agrandir"/>
                <a:ea typeface="Agrandir"/>
                <a:cs typeface="Agrandir"/>
                <a:sym typeface="Agrandir"/>
              </a:rPr>
              <a:t>Para procesar esto eficientemente, el Programa 3 implementa un Autómata Finito Determinístico, es decir, una máquina de estados que lee el texto carácter por carácter y lo clasifica en categorías (Pieza, Columna, Fila, Captura, etc.)."</a:t>
            </a:r>
          </a:p>
          <a:p>
            <a:pPr algn="just">
              <a:lnSpc>
                <a:spcPts val="2945"/>
              </a:lnSpc>
              <a:spcBef>
                <a:spcPct val="0"/>
              </a:spcBef>
            </a:pPr>
          </a:p>
        </p:txBody>
      </p:sp>
      <p:sp>
        <p:nvSpPr>
          <p:cNvPr name="TextBox 12" id="12"/>
          <p:cNvSpPr txBox="true"/>
          <p:nvPr/>
        </p:nvSpPr>
        <p:spPr>
          <a:xfrm rot="0">
            <a:off x="10852873" y="5592551"/>
            <a:ext cx="6207160" cy="2280225"/>
          </a:xfrm>
          <a:prstGeom prst="rect">
            <a:avLst/>
          </a:prstGeom>
        </p:spPr>
        <p:txBody>
          <a:bodyPr anchor="t" rtlCol="false" tIns="0" lIns="0" bIns="0" rIns="0">
            <a:spAutoFit/>
          </a:bodyPr>
          <a:lstStyle/>
          <a:p>
            <a:pPr algn="just">
              <a:lnSpc>
                <a:spcPts val="2943"/>
              </a:lnSpc>
              <a:spcBef>
                <a:spcPct val="0"/>
              </a:spcBef>
            </a:pPr>
            <a:r>
              <a:rPr lang="en-US" sz="2102">
                <a:solidFill>
                  <a:srgbClr val="FFFFFF"/>
                </a:solidFill>
                <a:latin typeface="Agrandir"/>
                <a:ea typeface="Agrandir"/>
                <a:cs typeface="Agrandir"/>
                <a:sym typeface="Agrandir"/>
              </a:rPr>
              <a:t>Nuestro sistema implementa un Autómata Finito Determinista (AFD) diseñado para validar la sintaxis del formato PGN. Consta de 14 estados principales (q0 a q13) que representan las fases del análisis y un Estado Trampa (o estado de rechazo)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4008267" y="3362325"/>
            <a:ext cx="5657850" cy="56578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33450" cap="sq">
              <a:gradFill>
                <a:gsLst>
                  <a:gs pos="0">
                    <a:srgbClr val="0078A8">
                      <a:alpha val="0"/>
                    </a:srgbClr>
                  </a:gs>
                  <a:gs pos="100000">
                    <a:srgbClr val="036E99">
                      <a:alpha val="630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400610" y="2116609"/>
            <a:ext cx="4941189" cy="8229600"/>
          </a:xfrm>
          <a:custGeom>
            <a:avLst/>
            <a:gdLst/>
            <a:ahLst/>
            <a:cxnLst/>
            <a:rect r="r" b="b" t="t" l="l"/>
            <a:pathLst>
              <a:path h="8229600" w="4941189">
                <a:moveTo>
                  <a:pt x="0" y="0"/>
                </a:moveTo>
                <a:lnTo>
                  <a:pt x="4941189" y="0"/>
                </a:lnTo>
                <a:lnTo>
                  <a:pt x="4941189" y="8229600"/>
                </a:lnTo>
                <a:lnTo>
                  <a:pt x="0" y="8229600"/>
                </a:lnTo>
                <a:lnTo>
                  <a:pt x="0" y="0"/>
                </a:lnTo>
                <a:close/>
              </a:path>
            </a:pathLst>
          </a:custGeom>
          <a:blipFill>
            <a:blip r:embed="rId3"/>
            <a:stretch>
              <a:fillRect l="0" t="0" r="0" b="0"/>
            </a:stretch>
          </a:blipFill>
        </p:spPr>
      </p:sp>
      <p:sp>
        <p:nvSpPr>
          <p:cNvPr name="TextBox 7" id="7"/>
          <p:cNvSpPr txBox="true"/>
          <p:nvPr/>
        </p:nvSpPr>
        <p:spPr>
          <a:xfrm rot="0">
            <a:off x="2583110" y="3425684"/>
            <a:ext cx="7689636" cy="2805726"/>
          </a:xfrm>
          <a:prstGeom prst="rect">
            <a:avLst/>
          </a:prstGeom>
        </p:spPr>
        <p:txBody>
          <a:bodyPr anchor="t" rtlCol="false" tIns="0" lIns="0" bIns="0" rIns="0">
            <a:spAutoFit/>
          </a:bodyPr>
          <a:lstStyle/>
          <a:p>
            <a:pPr algn="just">
              <a:lnSpc>
                <a:spcPts val="19653"/>
              </a:lnSpc>
              <a:spcBef>
                <a:spcPct val="0"/>
              </a:spcBef>
            </a:pPr>
            <a:r>
              <a:rPr lang="en-US" sz="14038">
                <a:solidFill>
                  <a:srgbClr val="FFFFFF"/>
                </a:solidFill>
                <a:latin typeface="Agrandir"/>
                <a:ea typeface="Agrandir"/>
                <a:cs typeface="Agrandir"/>
                <a:sym typeface="Agrandir"/>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DAHMfBxP1Lc</dc:identifier>
  <dcterms:modified xsi:type="dcterms:W3CDTF">2011-08-01T06:04:30Z</dcterms:modified>
  <cp:revision>1</cp:revision>
  <dc:title>Brand</dc:title>
</cp:coreProperties>
</file>